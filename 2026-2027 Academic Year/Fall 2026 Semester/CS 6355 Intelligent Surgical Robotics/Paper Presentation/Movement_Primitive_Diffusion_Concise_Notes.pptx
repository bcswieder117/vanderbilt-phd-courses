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-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formable-workshop.github.io/icra2024/spotlight/02_09_wdo_scheikl_movement.pdf?utm_source=chatgpt.com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roceedings.mlr.press/v15/ross11a.html?utm_source=chatgpt.com" TargetMode="Externa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Scheikl et al. introduce MPD for gentle manipulation of deformable objects with limited demonstrations.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I’ll explain the method, evaluate its results, and connect it to our course and controls.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(title and abstract).</a:t>
            </a:r>
          </a:p>
          <a:p>
            <a:r>
              <a:rPr sz="1000">
                <a:latin typeface="Arial"/>
                <a:ea typeface="Arial"/>
                <a:cs typeface="Arial"/>
              </a:rPr>
              <a:t>DOI: 10.1109/LRA.2024.3382529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https://scheiklp.github.io/movement-primitive-diffusion/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Completing a task does not tell us whether the robot moved tissue gently.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Demonstrations are costly and contain several valid strategies. The policy needs to preserve that variation.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evaluates success, motion quality, and data efficiency together.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(Introduction).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Diffusion models represent multiple possible action sequences.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places a Probabilistic Dynamic Movement Primitive, or ProDMP, inside the denoiser to structure motion over time.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authors test this combination on four tasks in simulation and physical bench setups, using state or image observations.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(Introduction, Sections III-D and IV).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o means recent observations, supplied as task-state information or RGB images.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τ, pronounced ‘tau,’ is a future action sequence. Here it does not mean joint torque.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Actions specify task-space values such as instrument translation, rotation, or gripper articulation.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Training extracts short windows from complete demonstrations. The reported model uses three observations to predict twelve actions.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 III-A).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Multimodal behavior means several valid strategies for the same situation.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For illustration, averaging paths on opposite sides of an obstacle could create an unsuitable route. This is the mode-averaging concern.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Diffusion learns to denoise demonstrated sequences, then generates a possible strategy by repeatedly refining a random sample.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(Introduction and Section III-C). Obstacle example is an illustrative explanation of mode averaging.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https://scheiklp.github.io/movement-primitive-diffusion/ (multimodal behavior).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These equations describe one controlled degree of freedom. y is position, and y-dot is velocity.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c₁ and c₂ set the boundary conditions. y₁ and y₂ are homogeneous solutions, Φ contains basis functions, and w shapes the motion.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Dots indicate derivatives with respect to movement time. T means transpose.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same weights determine position and velocity. w describes the current motion, while θ denotes trained network parameters.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(Equation 1, Section III-B).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decoder can start a motion segment at a specified position and velocity.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Matching both helps connect consecutive reference segments without an abrupt velocity change.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This guarantee concerns the reference. Physical tracking still depends on feedback, calibration, disturbances, and actuator limits.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III-B and III-D). Physical tracking discussion is presenter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Dθ, read ‘D-theta,’ estimates a denoised action sequence conditioned on observations o.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ODE updates the candidate sequence using its difference from the denoiser output, divided by t. Here σ(t) = 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 is diffusion time/noise level, distinct from robot execution time. The paper uses Euler’s method.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trains with denoising score matching. This ODE generates motion rather than identifying tissue dynamics.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(Equations 2–5 and Section IV-C).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connection to my Neural ODE presentation is a learned function evaluated within numerical integration.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My Silverbox demo integrated a state derivative over system time. MPD refines noisy actions over diffusion time to generate a motion reference.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Neural ODEs can also describe latent features or network depth. This is a computational connection, not evidence that MPD learns tissue dynamics.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(Equations 2–7, Sections III-C and III-D).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https://papers.neurips.cc/paper_files/paper/2018/hash/69386f6bb1dfed68692a24c8686939b9-Abstract.html (Chen et al., Neural Ordinary Differential Equations, NeurIPS 2018).</a:t>
            </a:r>
          </a:p>
          <a:p>
            <a:r>
              <a:rPr sz="1000">
                <a:latin typeface="Arial"/>
                <a:ea typeface="Arial"/>
                <a:cs typeface="Arial"/>
              </a:rPr>
              <a:t>Blaine Swieder, Neural ODEs: Dynamic Surrogate Modeling, CS 8395-04, slides 2–5 and the Silverbox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network EΘ receives observations, a noisy sequence, and the noise level, then predicts primitive weights w.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ProDMP decoder P combines w with the starting position and velocity s₀ to produce a trajectory.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ODE solver repeatedly updates the candidate sequence. Final weights generate the execution reference.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primitive operates inside denoising, rather than smoothing the finished output afterward.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1 and Section III-D). Figure reproduced intact with its original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o means observations. τ means action sequence. A tilde marks a noisy candidate, k counts denoising updates, and τ⁰ is the final sequence.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 specifies diffusion time/noise level. EΘ predicts w, and P decodes w with initial position and velocity s₀.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Dθ is the overall denoiser. Network parameters θ or Θ stay fixed during inference; generated motion coefficients w vary.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1, Section III-A and Equations 4–5 in Section III-C, Section III-D).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network predicts ProDMP weights, but diffusion still operates in action-sequence space.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decoder maps weights back to trajectory values at each update, retaining temporal structure for the transformer.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authors report lower preliminary success for direct weight-space diffusion, without a full numerical ablation table.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 III-D, discussion of weight-space diffusion).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Training pairs observation windows with demonstrated action sequences and corrupts the actions with Gaussian noise.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model predicts primitive weights, decodes a sequence, and compares that reconstruction with the demonstration using the denoising objective.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Weights are an internal representation. The learning target remains demonstrated motion in sequence space. All methods use AdamW.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(Equations 6–7, Sections III-C, III-D and IV-C).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Three observations condition twelve predicted actions, spaced 0.1 seconds apart.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Physical references use 0.005-second spacing, or 200 Hz. MPD evaluates its continuous decoder; baselines use linear interpolation.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setup uses three ProDMP basis functions and Euler’s method.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separately reported inference capacity of about 90 Hz is distinct from reference sampling and actual replanning frequency.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III-D, IV-C and VI).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Grasp Lift Touch requires sequential coordination: one instrument retracts the gallbladder while another touches a target.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Rope Threading tests a path through an eyelet.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Bimanual Tissue Manipulation tests coordinated tissue deformation.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Ligating Loop tests positioning a flexible loop around a tube. The final figure column shows each physical setup.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2 and Section IV-A). Figure retained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bench setup uses xArm7 manipulators, laparoscopic instruments, and an Intel RealSense D405 camera.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Cloth and phantoms replace living tissue. The cloth’s folds and slack illustrate differences from simulation.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Physical Ligating Loop omits constriction. These experiments do not establish performance in animal or human surgery.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3 and Section IV-A). Figure contains all original cloth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One proficient demonstrator records trajectories with an Xbox controller at 10 Hz. The table lists default dataset sizes.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Simulation uses five seeds and up to 3,000 epochs, with 100 evaluation rollouts every 100 epochs.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Physical evaluation uses 50 executions per model. Data-efficiency tests vary the training subset separately.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Motion metrics use each run’s highest-success checkpoint, so they compare best achieved performance.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 IV-C). Default dataset counts and evaluation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DP-T uses a transformer and DP-C a temporal CNN. Both use DDPM diffusion.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BESO and MPD use score-based diffusion with transformers. MPD adds the ProDMP decoder.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Some comparisons change both architecture and diffusion framework, so they do not isolate only the primitive’s effect. Hardware tests compare MPD with DP-C.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III-C, III-D and IV-C).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Tissue acceleration measures object motion. Instrument jerk measures how abruptly acceleration changes.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Instrument ‘energy’ is an acceleration-sum proxy, not energy measured in joules.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Path length measures travel; episode length measures completion time.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Physical BTM uses marker acceleration as a tissue-motion surrogate. These metrics complement success and do not directly measure injury.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 IV-B and Figure 7 caption).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Entries are mean success percentages with standard deviations across five models.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leads the four-task average at 97.90%, versus 97.00% for DP-T: a 0.90-percentage-point difference.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leads RT and BTM here; DP-T reaches 100% on GLT and LL. The table provides no significance test for the average difference.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(Table I, State Observations). Native table preserves every reported mean and standard deviation.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With images, MPD has the highest average at 94.40%, versus 93.05% for DP-T.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BTM is strong for MPD at 99.0%. On Rope Threading, DP-C leads at 83.2%, versus 78.6% for MPD.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results favor MPD overall while showing task-dependent differences. It does not win every comparison.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(Table I, Image Observations). Native table preserves every reported mean and standard deviation.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Only MPD and DP-C run on hardware. The authors say the other methods would require substantial motion postprocessing.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For state-input BTM at a 2 mm threshold, MPD succeeds in 90% of 50 trials, versus 70% for DP-C.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Both reach 100% on GLT and simplified LL. Rope Threading is 96% for MPD and 100% for DP-C.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MPD’s two rope failures produce unfamiliar bent configurations from which it cannot recover.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 V, Figure 5 and Section IV-A). Native table recreated from reported physical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Success requires both marker-to-target errors to fall below the chosen threshold. Solid curves use state inputs; dashed curves use images.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State-input MPD reaches 90% at 2 mm. Both methods reach 100% beyond about 6.5 mm.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Success percentages depend on the tolerance. A surgical application would need its own justified accuracy requirement.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5 and Section V). Complete figure, including legend, axes and marker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is blue. The dotted human-demonstration reference is 1, and the vertical axes are logarithmic.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Bars show means with minimum/maximum error bars, not standard deviations.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generally has favorable motion metrics, particularly instrument jerk. Physical BTM uses marker acceleration; other physical panels omit direct tissue acceleration.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Lower metrics support gentler motion but do not establish tissue-injury reduction or a contact-force limit.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7, Sections IV-B and V). All panels and the original legend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Figure 6 varies demonstration count for state-input BTM and Rope Threading.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authors report about 90% BTM success with 90 demonstrations for MPD, versus about 120 for DP-T.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benefit is task-dependent. More data does not guarantee monotonic improvement, and coverage of relevant states still matters.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6, Sections V and VI). Complete two-panel figure with the original legend and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Black dashed paths show human demonstrations. Each panel compares one method on simulated BTM.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MPD’s smoother paths illustrate the practical difference between task completion and motion quality.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This is qualitative evidence. Read it with jerk and acceleration metrics; a 2D projection alone cannot establish 3D motion quality or contact forces.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(Figure 4 and Section V). Complete Cartesian trajectory figure, including all four methods and the legend.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combines multiple possible behaviors with a structured, continuous trajectory representation.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Specified starting position and velocity help connect segments, and the decoder directly produces high-frequency references.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evaluated tasks show favorable motion metrics and data efficiency with state or image observations. The value is this combination of outcomes.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III-D, V and VI).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bent-rope failures show poor recovery outside the demonstration distribution.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Smooth references do not guarantee safe contact forces. Sampling and representation choices also introduce design and computation costs.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Clinical transfer remains unresolved: bench substitutes, one demonstrator, and a hardware comparison limited to MPD and DP-C.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Possible representation-flexibility and force-safety tradeoffs are discussion points, not additional results demonstrated here.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IV and VI). Force-safety and representation-flexibility points are presenter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From my controls perspective, MPD supplies a reference. Tracking control still handles the plant and disturbances.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Interaction sensing and supervisory logic could detect a bad contact state, trigger replanning, or request human intervention.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Those are possible extensions, not demonstrated MPD components. This separation of generation, tracking, and monitoring also fits CPS and FSW research.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 and VI). Control architecture, force-estimation, CPS and FSW connections are presenter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Evaluate task success and motion quality separately.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Diffusion preserves behavioral variation; ProDMPs structure motion.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Initial position and velocity help connect segments, while physical tracking remains a control problem.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reported comparisons show improved data efficiency.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Recovery and clinical safety remain open.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(synthesis of Sections III–VI).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Our readings progress from perceiving tissue and recognizing behavior to learning actions from demonstrations.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MPD adds temporal structure to learned motion. STAR provides a separate example of planning, feedback, and supervised execution.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This is a conceptual reading map, not one implemented pipeline. SE(3) supplies pose geometry; MPD addresses motion over time.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Jie Ying Wu, Week 7 lecture slides, slides 10–11, 20 and 49–51.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 (Sections III-A and VI). SUFIA-BC, STAR and SE(3) connections reflect the course readings discussed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What would establish safety?</a:t>
            </a:r>
            <a:r>
              <a:rPr lang="en-US" dirty="0"/>
              <a:t> I’d measure contact forces, tissue strain/damage, tracking error, collisions, and recovery reliability against validated, tissue-specific limits. MPD’s jerk and acceleration metrics provide useful evidence, but don’t establish tissue safety by themselves. </a:t>
            </a:r>
            <a:r>
              <a:rPr lang="en-US" dirty="0">
                <a:hlinkClick r:id="rId3"/>
              </a:rPr>
              <a:t>deformable-workshop.github.io</a:t>
            </a:r>
            <a:endParaRPr lang="en-US" dirty="0"/>
          </a:p>
          <a:p>
            <a:pPr lvl="0"/>
            <a:r>
              <a:rPr lang="en-US" b="1" dirty="0"/>
              <a:t>Could corrective demonstrations help?</a:t>
            </a:r>
            <a:r>
              <a:rPr lang="en-US" dirty="0"/>
              <a:t> Yes, potentially. Demonstrate recovery starting from bent-rope states, retrain, and test on unseen failures. This follows the idea of teaching corrections in states the policy actually encounters; it remains a proposed extension for MPD. </a:t>
            </a:r>
            <a:r>
              <a:rPr lang="en-US" dirty="0" err="1">
                <a:hlinkClick r:id="rId4"/>
              </a:rPr>
              <a:t>proceedings.mlr.press</a:t>
            </a:r>
            <a:endParaRPr lang="en-US" dirty="0"/>
          </a:p>
          <a:p>
            <a:pPr lvl="0"/>
            <a:r>
              <a:rPr lang="en-US" b="1" dirty="0"/>
              <a:t>What should trigger intervention?</a:t>
            </a:r>
            <a:r>
              <a:rPr lang="en-US" dirty="0"/>
              <a:t> I’d trigger replanning when observed tissue motion deviates substantially from predictions or a grasp slips. Force/strain feedback could provide additional triggers. </a:t>
            </a:r>
            <a:r>
              <a:rPr lang="en-US"/>
              <a:t>Exceeding validated safety limits, losing reliable tracking, or repeatedly failing to recover should trigger a safe pause and human intervention.</a:t>
            </a:r>
          </a:p>
          <a:p>
            <a:endParaRPr sz="1200" dirty="0">
              <a:latin typeface="Arial"/>
              <a:ea typeface="Arial"/>
              <a:cs typeface="Arial"/>
            </a:endParaRPr>
          </a:p>
          <a:p>
            <a:r>
              <a:rPr sz="1000" b="1" dirty="0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 dirty="0">
                <a:latin typeface="Arial"/>
                <a:ea typeface="Arial"/>
                <a:cs typeface="Arial"/>
              </a:rPr>
              <a:t>Presenter questions informed by https://arxiv.org/pdf/2312.10008v2 (Sections V and VI).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The main source is Scheikl et al.’s MPD paper. Its project page links the code, data, and demonstration video.</a:t>
            </a:r>
          </a:p>
          <a:p>
            <a:pPr marL="177800" indent="-88900">
              <a:spcAft>
                <a:spcPts val="500"/>
              </a:spcAft>
              <a:buChar char="•"/>
            </a:pPr>
            <a:r>
              <a:rPr sz="1200">
                <a:latin typeface="Arial"/>
                <a:ea typeface="Arial"/>
                <a:cs typeface="Arial"/>
              </a:rPr>
              <a:t>Diffusion Policy and ProDMP supply method background. Chen et al. (2018) supports the brief Neural ODE comparison; course links are presenter synthesis.</a:t>
            </a:r>
          </a:p>
          <a:p>
            <a:endParaRPr sz="1200">
              <a:latin typeface="Arial"/>
              <a:ea typeface="Arial"/>
              <a:cs typeface="Arial"/>
            </a:endParaRPr>
          </a:p>
          <a:p>
            <a:r>
              <a:rPr sz="1000" b="1">
                <a:latin typeface="Arial"/>
                <a:ea typeface="Arial"/>
                <a:cs typeface="Arial"/>
              </a:rPr>
              <a:t>Sources and figure credits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https://arxiv.org/pdf/2312.10008v2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https://doi.org/10.1109/LRA.2024.3382529</a:t>
            </a:r>
          </a:p>
          <a:p>
            <a:r>
              <a:rPr sz="1000">
                <a:latin typeface="Arial"/>
                <a:ea typeface="Arial"/>
                <a:cs typeface="Arial"/>
              </a:rPr>
              <a:t>https://scheiklp.github.io/movement-primitive-diffusion/</a:t>
            </a:r>
          </a:p>
          <a:p>
            <a:r>
              <a:rPr sz="1000">
                <a:latin typeface="Arial"/>
                <a:ea typeface="Arial"/>
                <a:cs typeface="Arial"/>
              </a:rPr>
              <a:t>Method background cited by MPD: Chi et al., Diffusion Policy, RSS 2023. Li et al., ProDMP, IEEE RA-L 8(4), 2325–2332, 2023.</a:t>
            </a:r>
          </a:p>
          <a:p>
            <a:r>
              <a:rPr sz="1000">
                <a:latin typeface="Arial"/>
                <a:ea typeface="Arial"/>
                <a:cs typeface="Arial"/>
              </a:rPr>
              <a:t>Neural ODE comparison: https://papers.neurips.cc/paper_files/paper/2018/hash/69386f6bb1dfed68692a24c8686939b9-Abstract.html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5EA3-0D49-4B77-8245-8B83739F3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26" y="4227594"/>
            <a:ext cx="8404977" cy="1305500"/>
          </a:xfrm>
        </p:spPr>
        <p:txBody>
          <a:bodyPr anchor="b">
            <a:normAutofit/>
          </a:bodyPr>
          <a:lstStyle>
            <a:lvl1pPr algn="l">
              <a:buNone/>
              <a:defRPr sz="4000" b="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520DD-1813-4776-97DE-7701EB9FCB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27" y="5766099"/>
            <a:ext cx="8404976" cy="590251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8645C4-F0DC-4FAD-8AB7-9AD8573D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27" y="646847"/>
            <a:ext cx="2410896" cy="523522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36FE41B-E7AE-FC43-A4A2-51F8145209E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039905" y="417149"/>
            <a:ext cx="1739198" cy="365125"/>
          </a:xfrm>
        </p:spPr>
        <p:txBody>
          <a:bodyPr/>
          <a:lstStyle>
            <a:lvl1pPr algn="r">
              <a:buNone/>
              <a:defRPr>
                <a:solidFill>
                  <a:schemeClr val="accent6"/>
                </a:solidFill>
              </a:defRPr>
            </a:lvl1pPr>
          </a:lstStyle>
          <a:p>
            <a:fld id="{6C33123A-F54F-2341-AC44-7F40417F38A2}" type="datetime4">
              <a:t>October 29, 2026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_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91BA-F323-4398-94A4-B493D04FC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27" y="4933507"/>
            <a:ext cx="5128022" cy="1305500"/>
          </a:xfrm>
        </p:spPr>
        <p:txBody>
          <a:bodyPr anchor="b">
            <a:normAutofit/>
          </a:bodyPr>
          <a:lstStyle>
            <a:lvl1pPr algn="l">
              <a:buNone/>
              <a:defRPr sz="4000">
                <a:solidFill>
                  <a:schemeClr val="accent5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0F7C41-7C8E-456E-AE49-29CAC1937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27" y="646847"/>
            <a:ext cx="2410896" cy="523522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BE1BD06-0262-4DC5-880C-5C13FDEFAF53}"/>
              </a:ext>
            </a:extLst>
          </p:cNvPr>
          <p:cNvSpPr>
            <a:spLocks noGrp="1"/>
          </p:cNvSpPr>
          <p:nvPr/>
        </p:nvSpPr>
        <p:spPr>
          <a:xfrm>
            <a:off x="6106160" y="-57543"/>
            <a:ext cx="0" cy="6915543"/>
          </a:xfrm>
          <a:prstGeom prst="line">
            <a:avLst/>
          </a:prstGeom>
          <a:ln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4956669-0EA3-4E09-99F3-4CC80E9AE1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7000"/>
          </a:blip>
          <a:srcRect l="33931" t="9698" r="21187"/>
          <a:stretch/>
        </p:blipFill>
        <p:spPr>
          <a:xfrm>
            <a:off x="6113794" y="-1"/>
            <a:ext cx="6078204" cy="6838819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439FD51-B1D6-8F4A-803E-396E69AF84E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6197" y="4567999"/>
            <a:ext cx="1739198" cy="365125"/>
          </a:xfrm>
        </p:spPr>
        <p:txBody>
          <a:bodyPr/>
          <a:lstStyle>
            <a:lvl1pPr>
              <a:buNone/>
              <a:defRPr>
                <a:solidFill>
                  <a:schemeClr val="accent6"/>
                </a:solidFill>
              </a:defRPr>
            </a:lvl1pPr>
          </a:lstStyle>
          <a:p>
            <a:fld id="{6E3C9BF4-CD7D-8540-B3F3-C4359157ED05}" type="datetime4">
              <a:t>October 29, 2026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_place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4CED8E1A-BA0A-C041-B60A-D0D46E8B2A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21820" y="0"/>
            <a:ext cx="607018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D2DFA-854E-40DD-B770-801C0E0D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27" y="4933507"/>
            <a:ext cx="5128022" cy="1305500"/>
          </a:xfrm>
        </p:spPr>
        <p:txBody>
          <a:bodyPr anchor="b">
            <a:normAutofit/>
          </a:bodyPr>
          <a:lstStyle>
            <a:lvl1pPr algn="l">
              <a:buNone/>
              <a:defRPr sz="4000">
                <a:solidFill>
                  <a:schemeClr val="accent5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47494-D2F1-43E8-A9E6-352D87EFF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27" y="646847"/>
            <a:ext cx="2410896" cy="523522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29C08E7-6324-4A49-9C09-D52C47BF8422}"/>
              </a:ext>
            </a:extLst>
          </p:cNvPr>
          <p:cNvSpPr>
            <a:spLocks noGrp="1"/>
          </p:cNvSpPr>
          <p:nvPr/>
        </p:nvSpPr>
        <p:spPr>
          <a:xfrm>
            <a:off x="6106160" y="-57543"/>
            <a:ext cx="0" cy="6915543"/>
          </a:xfrm>
          <a:prstGeom prst="line">
            <a:avLst/>
          </a:prstGeom>
          <a:ln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C519-EB37-774F-BD3A-23BD947ABD66}"/>
              </a:ext>
            </a:extLst>
          </p:cNvPr>
          <p:cNvSpPr>
            <a:spLocks noGrp="1"/>
          </p:cNvSpPr>
          <p:nvPr>
            <p:ph type="dt" idx="14"/>
          </p:nvPr>
        </p:nvSpPr>
        <p:spPr>
          <a:xfrm>
            <a:off x="620767" y="4564572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4FA05971-6ECE-3048-89D4-C8CDCDF8108F}" type="datetime4">
              <a:t>October 29, 2026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_with lis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57B4-3DB9-4428-B1BD-8AD9E30735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27" y="670745"/>
            <a:ext cx="5128022" cy="1305500"/>
          </a:xfrm>
        </p:spPr>
        <p:txBody>
          <a:bodyPr anchor="t">
            <a:normAutofit/>
          </a:bodyPr>
          <a:lstStyle>
            <a:lvl1pPr algn="l">
              <a:buNone/>
              <a:defRPr sz="3600">
                <a:solidFill>
                  <a:schemeClr val="accent5"/>
                </a:solidFill>
              </a:defRPr>
            </a:lvl1pPr>
          </a:lstStyle>
          <a:p>
            <a:r>
              <a:t>Agenda or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86BC3-258E-44C7-B596-674ACB0DB7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26" y="3006104"/>
            <a:ext cx="5291403" cy="3181151"/>
          </a:xfrm>
        </p:spPr>
        <p:txBody>
          <a:bodyPr>
            <a:normAutofit/>
          </a:bodyPr>
          <a:lstStyle>
            <a:lvl1pPr marL="365760" marR="0" indent="-4572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+mj-lt"/>
              <a:buAutoNum type="arabicPeriod"/>
              <a:defRPr sz="2000">
                <a:solidFill>
                  <a:schemeClr val="accent6"/>
                </a:solidFill>
                <a:latin typeface="Times"/>
                <a:ea typeface="Times"/>
                <a:cs typeface="Time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28600" marR="0" lvl="0" indent="-32004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+mj-lt"/>
              <a:buAutoNum type="arabicPeriod"/>
            </a:pPr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C5B8113-F99F-4D16-A643-41730DDB6027}"/>
              </a:ext>
            </a:extLst>
          </p:cNvPr>
          <p:cNvSpPr>
            <a:spLocks noGrp="1"/>
          </p:cNvSpPr>
          <p:nvPr/>
        </p:nvSpPr>
        <p:spPr>
          <a:xfrm>
            <a:off x="6106160" y="-57543"/>
            <a:ext cx="0" cy="6915543"/>
          </a:xfrm>
          <a:prstGeom prst="line">
            <a:avLst/>
          </a:prstGeom>
          <a:ln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06814D8-DBEE-4BCE-AF14-EDB6A0C45E98}"/>
              </a:ext>
            </a:extLst>
          </p:cNvPr>
          <p:cNvSpPr>
            <a:spLocks noGrp="1"/>
          </p:cNvSpPr>
          <p:nvPr/>
        </p:nvSpPr>
        <p:spPr>
          <a:xfrm>
            <a:off x="6106160" y="-57543"/>
            <a:ext cx="0" cy="7080135"/>
          </a:xfrm>
          <a:prstGeom prst="line">
            <a:avLst/>
          </a:prstGeom>
          <a:ln w="6350"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33225-7004-4CD3-A580-A300FD71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4351B81-FE14-984B-81F3-C69CA9CF9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62709" y="384050"/>
            <a:ext cx="11466575" cy="59436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6865D-C30E-40D9-BC04-E05F6FF979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89" r="695" b="11859"/>
          <a:stretch/>
        </p:blipFill>
        <p:spPr>
          <a:xfrm>
            <a:off x="362715" y="384049"/>
            <a:ext cx="11466571" cy="5972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place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4351B81-FE14-984B-81F3-C69CA9CF9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62709" y="384050"/>
            <a:ext cx="11466575" cy="59723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4D2869-1122-FD4F-93D1-E6818DABA3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7976" y="3134047"/>
            <a:ext cx="10385823" cy="1305500"/>
          </a:xfrm>
        </p:spPr>
        <p:txBody>
          <a:bodyPr anchor="t">
            <a:normAutofit/>
          </a:bodyPr>
          <a:lstStyle>
            <a:lvl1pPr algn="ctr">
              <a:buNone/>
              <a:defRPr sz="4000">
                <a:solidFill>
                  <a:schemeClr val="accent5"/>
                </a:solidFill>
              </a:defRPr>
            </a:lvl1pPr>
          </a:lstStyle>
          <a:p>
            <a:r>
              <a:t>Section Title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525A9-A6AD-A44B-801E-7959EE0923FD}"/>
              </a:ext>
            </a:extLst>
          </p:cNvPr>
          <p:cNvSpPr>
            <a:spLocks noGrp="1"/>
          </p:cNvSpPr>
          <p:nvPr/>
        </p:nvSpPr>
        <p:spPr>
          <a:xfrm>
            <a:off x="355600" y="385065"/>
            <a:ext cx="11480800" cy="5971285"/>
          </a:xfrm>
          <a:prstGeom prst="rect">
            <a:avLst/>
          </a:prstGeom>
          <a:noFill/>
          <a:ln w="6350">
            <a:gradFill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EC31-6646-4B5C-960B-6CA3233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01" y="3148547"/>
            <a:ext cx="11230346" cy="1434085"/>
          </a:xfrm>
        </p:spPr>
        <p:txBody>
          <a:bodyPr anchor="t">
            <a:normAutofit/>
          </a:bodyPr>
          <a:lstStyle>
            <a:lvl1pPr algn="ctr">
              <a:buNone/>
              <a:defRPr sz="4000"/>
            </a:lvl1pPr>
          </a:lstStyle>
          <a:p>
            <a:r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CE282C-012A-408A-A16D-6E28E816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DA1228-7D2D-F747-9CD9-30F83FE964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101" y="5114924"/>
            <a:ext cx="5276113" cy="105195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58DDCAA-666B-BB40-B3E0-9F6817656A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85784" y="5114924"/>
            <a:ext cx="5276113" cy="105195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CB49188-E5FA-E44D-BB8D-3EFB7DD6626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D94DB9D-64AE-3246-A5A1-033C8898104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AA71C6-F0A2-4515-A326-F93F26A0B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DA1228-7D2D-F747-9CD9-30F83FE964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101" y="2463800"/>
            <a:ext cx="8529676" cy="2651125"/>
          </a:xfrm>
        </p:spPr>
        <p:txBody>
          <a:bodyPr>
            <a:norm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spcAft>
                <a:spcPts val="1400"/>
              </a:spcAft>
              <a:buNone/>
              <a:defRPr sz="2200" b="0" i="0" baseline="0"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D07B40-2FFE-E84A-8C1D-66AF3BE4D38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76101" y="5209658"/>
            <a:ext cx="5276113" cy="1051959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6F4D12-C76D-594A-8366-6BDB7BA91D9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A7115C3-295D-ED43-9822-703965AFF1A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150A3D-06DA-452E-A938-FA07C929C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DA1228-7D2D-F747-9CD9-30F83FE964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5468" y="2463800"/>
            <a:ext cx="8529676" cy="2651125"/>
          </a:xfrm>
        </p:spPr>
        <p:txBody>
          <a:bodyPr>
            <a:norm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spcAft>
                <a:spcPts val="1400"/>
              </a:spcAft>
              <a:buNone/>
              <a:defRPr sz="2200" b="0" i="0" baseline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F94D049-750D-4443-ABB8-2C3A349AFA4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76101" y="5209658"/>
            <a:ext cx="5276113" cy="1051959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721C2F4-C445-134C-AB62-EC44C3AC62A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B0C0F91-4826-AB48-8200-0AA6EBCF9CA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">
            <a:extLst>
              <a:ext uri="{FF2B5EF4-FFF2-40B4-BE49-F238E27FC236}">
                <a16:creationId xmlns:a16="http://schemas.microsoft.com/office/drawing/2014/main" id="{82CE2211-09E5-4AF6-A43F-3F3B553EE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DB3474F2-813F-144E-A5E3-9EFB3D5E7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202" y="452406"/>
            <a:ext cx="5163202" cy="752449"/>
          </a:xfrm>
        </p:spPr>
        <p:txBody>
          <a:bodyPr anchor="t">
            <a:normAutofit/>
          </a:bodyPr>
          <a:lstStyle>
            <a:lvl1pPr>
              <a:buNone/>
              <a:defRPr sz="1300" b="1"/>
            </a:lvl1pPr>
          </a:lstStyle>
          <a:p>
            <a:r>
              <a:t>Introduction Title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F95F123-F83C-D74D-B917-9E9D3B4BA7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7244" y="1702014"/>
            <a:ext cx="5163202" cy="4255854"/>
          </a:xfrm>
        </p:spPr>
        <p:txBody>
          <a:bodyPr>
            <a:norm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spcAft>
                <a:spcPts val="1500"/>
              </a:spcAft>
              <a:buNone/>
              <a:defRPr sz="2200" baseline="0"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3550B2-1AE2-437A-ABD5-7393CB22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927D43-946C-AB43-B96A-8F8625D7EC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66312" y="446161"/>
            <a:ext cx="4394634" cy="758694"/>
          </a:xfrm>
        </p:spPr>
        <p:txBody>
          <a:bodyPr>
            <a:norm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25F86CE-9BC1-6743-9E0C-DD5B6FB8AB4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545850" y="1702014"/>
            <a:ext cx="5140134" cy="42558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lnSpc>
                <a:spcPts val="2000"/>
              </a:lnSpc>
              <a:spcAft>
                <a:spcPts val="1950"/>
              </a:spcAft>
              <a:buNone/>
            </a:pPr>
            <a:r>
              <a:rPr sz="1300"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F4C0FA-C667-4E65-8475-2FA9C6B8A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DA1228-7D2D-F747-9CD9-30F83FE964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4202" y="1308839"/>
            <a:ext cx="6264941" cy="130522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6965DD3-730C-46F8-A7E8-2E8530E37B8D}"/>
              </a:ext>
            </a:extLst>
          </p:cNvPr>
          <p:cNvSpPr>
            <a:spLocks noGrp="1"/>
          </p:cNvSpPr>
          <p:nvPr/>
        </p:nvSpPr>
        <p:spPr>
          <a:xfrm>
            <a:off x="7993530" y="2652595"/>
            <a:ext cx="0" cy="3701068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06077DA2-18B8-4ECB-AEFB-353611E9473B}"/>
              </a:ext>
            </a:extLst>
          </p:cNvPr>
          <p:cNvSpPr>
            <a:spLocks noGrp="1"/>
          </p:cNvSpPr>
          <p:nvPr/>
        </p:nvSpPr>
        <p:spPr>
          <a:xfrm>
            <a:off x="4174297" y="2652595"/>
            <a:ext cx="0" cy="3701068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A7AAB97-6F45-4A63-86B2-2CB4F2E5F73D}"/>
              </a:ext>
            </a:extLst>
          </p:cNvPr>
          <p:cNvSpPr>
            <a:spLocks noGrp="1"/>
          </p:cNvSpPr>
          <p:nvPr/>
        </p:nvSpPr>
        <p:spPr>
          <a:xfrm flipH="1">
            <a:off x="0" y="2652595"/>
            <a:ext cx="12192000" cy="0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F57EB42-4981-064D-9CE9-E9DB573814E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086501" y="2723842"/>
            <a:ext cx="3670724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924E4CC-F6FD-524A-9FED-C626A85DF7FA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086501" y="3121049"/>
            <a:ext cx="3670718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66B347D-34B5-7142-B26C-56CEAC99DC7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086501" y="3999752"/>
            <a:ext cx="3670705" cy="2353911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8838D29-272F-F149-AD8D-3E5D2AD51AF6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44202" y="2723842"/>
            <a:ext cx="3670724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4B575BD0-362D-7C47-9EAD-C5F806621E1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44202" y="3121049"/>
            <a:ext cx="3670718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003DD90-3175-F44F-8D72-458530DE4A62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44202" y="3999752"/>
            <a:ext cx="3670705" cy="2353911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54DF355D-6530-1F46-BC1A-E979ADECFB94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4260638" y="2723842"/>
            <a:ext cx="3670724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78E426-63EF-244C-B829-98E2E21E119B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260638" y="3121049"/>
            <a:ext cx="3670718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89BDC90-F4BA-5D40-A0EF-BD5586AFF4BE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260638" y="3999752"/>
            <a:ext cx="3670705" cy="2353911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8765B4F-24D8-2641-9261-F629332413A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4CD120F-A27D-2143-88BD-66FC0DCC642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85E030-CD96-40B0-9866-D838B371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DA1228-7D2D-F747-9CD9-30F83FE964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4202" y="1308839"/>
            <a:ext cx="6264941" cy="130522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58DDCAA-666B-BB40-B3E0-9F6817656A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25654" y="2723842"/>
            <a:ext cx="2755489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5C89C18-840D-4F10-8E88-264CA05FA14F}"/>
              </a:ext>
            </a:extLst>
          </p:cNvPr>
          <p:cNvSpPr>
            <a:spLocks noGrp="1"/>
          </p:cNvSpPr>
          <p:nvPr/>
        </p:nvSpPr>
        <p:spPr>
          <a:xfrm>
            <a:off x="6106160" y="2652595"/>
            <a:ext cx="0" cy="3703754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7C1C85F-E8C9-4CCD-9992-FB2277B4A5E6}"/>
              </a:ext>
            </a:extLst>
          </p:cNvPr>
          <p:cNvSpPr>
            <a:spLocks noGrp="1"/>
          </p:cNvSpPr>
          <p:nvPr/>
        </p:nvSpPr>
        <p:spPr>
          <a:xfrm>
            <a:off x="8971280" y="2652595"/>
            <a:ext cx="0" cy="3703754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AD0A0C2-9AFE-4DE7-92EC-C730F6AB79D0}"/>
              </a:ext>
            </a:extLst>
          </p:cNvPr>
          <p:cNvSpPr>
            <a:spLocks noGrp="1"/>
          </p:cNvSpPr>
          <p:nvPr/>
        </p:nvSpPr>
        <p:spPr>
          <a:xfrm>
            <a:off x="3241040" y="2652595"/>
            <a:ext cx="0" cy="3703754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F5B3572-7092-44C6-B0E6-8EE13A835D6B}"/>
              </a:ext>
            </a:extLst>
          </p:cNvPr>
          <p:cNvSpPr>
            <a:spLocks noGrp="1"/>
          </p:cNvSpPr>
          <p:nvPr/>
        </p:nvSpPr>
        <p:spPr>
          <a:xfrm flipH="1">
            <a:off x="0" y="2652595"/>
            <a:ext cx="12192000" cy="0"/>
          </a:xfrm>
          <a:prstGeom prst="line">
            <a:avLst/>
          </a:prstGeom>
          <a:ln>
            <a:solidFill>
              <a:srgbClr val="B4924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B08375B-C3F2-524E-910B-D9C21C18B5C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25654" y="3121049"/>
            <a:ext cx="2755487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F44CBEE-7235-1C4B-A2D6-7A398A0159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5655" y="3999753"/>
            <a:ext cx="2765652" cy="2356598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3CCFE16-FD6F-9E4A-BE05-F4B5A69432E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317709" y="2723842"/>
            <a:ext cx="2755489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93C09BD-8DFF-E148-BDEB-C6CC79B3C22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317709" y="3121049"/>
            <a:ext cx="2755487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83DDF49-EF8F-2C4C-8580-0A5DD0BEDF83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317710" y="3999753"/>
            <a:ext cx="2765652" cy="2356596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F57EB42-4981-064D-9CE9-E9DB573814E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9131" y="2723842"/>
            <a:ext cx="2755489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924E4CC-F6FD-524A-9FED-C626A85DF7FA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9131" y="3121049"/>
            <a:ext cx="2755487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66B347D-34B5-7142-B26C-56CEAC99DC7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199132" y="3999753"/>
            <a:ext cx="2765652" cy="2356596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6703E58-9291-EE40-8DCB-A241470F951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091189" y="2723842"/>
            <a:ext cx="2755489" cy="36232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="1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D451DD1-615B-AE43-9B8E-1BB26CDED94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9091189" y="3121049"/>
            <a:ext cx="2755487" cy="8332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B5571B90-D179-B34F-95F4-C185A51AB58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9091190" y="3999753"/>
            <a:ext cx="2765652" cy="2356596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/>
              <a:buChar char="•"/>
              <a:defRPr sz="10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FCF8479-82B0-0840-9B2D-AC5FD4ACD3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7032ABB-7447-304B-BC64-9369BF7A9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with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3DBC3CC-6FE7-A44B-BF70-8A106D9EA5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44203" y="2125027"/>
            <a:ext cx="5099050" cy="4135260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F54E84-6955-4B8B-A524-6D880B6B44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20" t="6646" r="29386" b="1660"/>
          <a:stretch/>
        </p:blipFill>
        <p:spPr>
          <a:xfrm>
            <a:off x="6095999" y="0"/>
            <a:ext cx="6096001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961E201-BA38-4447-A0C1-6213D4ABE43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6102" y="241683"/>
            <a:ext cx="5333028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B363821-E1AE-0E4B-AB14-075EE424E57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6100" y="698668"/>
            <a:ext cx="533302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place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1E4FA67-482D-F249-9F64-D3A7846B76E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21820" y="0"/>
            <a:ext cx="607018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3DBC3CC-6FE7-A44B-BF70-8A106D9EA5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44203" y="2125027"/>
            <a:ext cx="5099050" cy="4135260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3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9F9F3A5-801B-434A-86BB-2BEE7C86970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76101" y="241683"/>
            <a:ext cx="5386817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8A2491D-CED1-3E4A-83F9-0AEC1BF664C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6101" y="698668"/>
            <a:ext cx="5386818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Dark_with lis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EA2031-4E46-40AA-A96C-70B7970970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000" y="2283090"/>
            <a:ext cx="9852104" cy="3181151"/>
          </a:xfrm>
        </p:spPr>
        <p:txBody>
          <a:bodyPr>
            <a:normAutofit/>
          </a:bodyPr>
          <a:lstStyle>
            <a:lvl1pPr marL="342900" marR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B16D"/>
              </a:buClr>
              <a:buSzPct val="70000"/>
              <a:buFont typeface="Arial"/>
              <a:buChar char="•"/>
              <a:defRPr sz="2000" kern="12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915613-E1B5-49F7-8FB1-94A883CD9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7E7661C-8F47-A84E-B097-83D2887BAAE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E33F36-CB6A-3845-B322-222BD9B1F41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Dar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8B974-004B-4268-B6CB-5543DC788E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000" y="2283090"/>
            <a:ext cx="9852104" cy="3181151"/>
          </a:xfrm>
        </p:spPr>
        <p:txBody>
          <a:bodyPr>
            <a:normAutofit/>
          </a:bodyPr>
          <a:lstStyle>
            <a:lvl1pPr marL="0" marR="0" indent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B16D"/>
              </a:buClr>
              <a:buSzPct val="70000"/>
              <a:buFont typeface="Arial"/>
              <a:buNone/>
              <a:defRPr sz="2000" kern="12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7BEB435-A758-496E-B85D-A006B27B2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79ACECD-DD2A-B64F-8E1E-426B640A05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619EC4-76DA-1644-8D14-0A5DD8E7E33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Light_with list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9D341D6-DA5F-4B47-BFBB-B966A092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9925059-DA62-0741-A886-A75ABAED9C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000" y="2283090"/>
            <a:ext cx="9852104" cy="3181151"/>
          </a:xfrm>
        </p:spPr>
        <p:txBody>
          <a:bodyPr>
            <a:normAutofit/>
          </a:bodyPr>
          <a:lstStyle>
            <a:lvl1pPr marL="342900" marR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B16D"/>
              </a:buClr>
              <a:buSzPct val="70000"/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764541A-60A7-0341-A51E-F5FF355F6C5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BDE9E37-ED42-4A4B-B60D-A82312F735A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Ligh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8FD27E-E1E6-49CF-908F-999674D8B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000" y="2283090"/>
            <a:ext cx="9852104" cy="3181151"/>
          </a:xfrm>
        </p:spPr>
        <p:txBody>
          <a:bodyPr>
            <a:normAutofit/>
          </a:bodyPr>
          <a:lstStyle>
            <a:lvl1pPr marL="0" marR="0" indent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B16D"/>
              </a:buClr>
              <a:buSzPct val="70000"/>
              <a:buFont typeface="Arial"/>
              <a:buNone/>
              <a:defRPr sz="2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1460" marR="0" lvl="0" indent="-3429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None/>
            </a:pPr>
            <a:r>
              <a:t>Click to edit Master text styles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8F69DBE-B7B9-498B-973E-3F20F2B45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62FF63-C28D-7F40-BAA1-AE019F36409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6101" y="241683"/>
            <a:ext cx="5619899" cy="497012"/>
          </a:xfrm>
        </p:spPr>
        <p:txBody>
          <a:bodyPr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Presentation 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D736A-D0E9-D04E-BD47-9408BA10510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6100" y="698668"/>
            <a:ext cx="5619899" cy="581486"/>
          </a:xfr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Subsection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5161560-A711-440C-95F9-4872CC2CE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2EC98CC-F699-4774-B6EA-432ACF3D071A}"/>
              </a:ext>
            </a:extLst>
          </p:cNvPr>
          <p:cNvSpPr>
            <a:spLocks noGrp="1"/>
          </p:cNvSpPr>
          <p:nvPr/>
        </p:nvSpPr>
        <p:spPr>
          <a:xfrm>
            <a:off x="0" y="1030494"/>
            <a:ext cx="12251473" cy="32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9876A5D-6E77-421B-8567-0E31C2BFA61C}"/>
              </a:ext>
            </a:extLst>
          </p:cNvPr>
          <p:cNvSpPr>
            <a:spLocks noGrp="1"/>
          </p:cNvSpPr>
          <p:nvPr/>
        </p:nvSpPr>
        <p:spPr>
          <a:xfrm>
            <a:off x="0" y="2697284"/>
            <a:ext cx="12251473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6E6779F-21B1-4BA0-96D1-2BBA728AFFAE}"/>
              </a:ext>
            </a:extLst>
          </p:cNvPr>
          <p:cNvSpPr>
            <a:spLocks noGrp="1"/>
          </p:cNvSpPr>
          <p:nvPr/>
        </p:nvSpPr>
        <p:spPr>
          <a:xfrm>
            <a:off x="0" y="4243145"/>
            <a:ext cx="12192000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D31031B-1CA2-44D1-A334-02A24DCF8884}"/>
              </a:ext>
            </a:extLst>
          </p:cNvPr>
          <p:cNvSpPr>
            <a:spLocks noGrp="1"/>
          </p:cNvSpPr>
          <p:nvPr/>
        </p:nvSpPr>
        <p:spPr>
          <a:xfrm>
            <a:off x="0" y="5845140"/>
            <a:ext cx="12251473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786E477-BDB8-4DD2-BB96-80954BC55DA7}"/>
              </a:ext>
            </a:extLst>
          </p:cNvPr>
          <p:cNvSpPr>
            <a:spLocks noGrp="1"/>
          </p:cNvSpPr>
          <p:nvPr/>
        </p:nvSpPr>
        <p:spPr>
          <a:xfrm>
            <a:off x="8868936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D2ACFEE-E690-4A7B-85E0-B2A9FE0548E9}"/>
              </a:ext>
            </a:extLst>
          </p:cNvPr>
          <p:cNvSpPr>
            <a:spLocks noGrp="1"/>
          </p:cNvSpPr>
          <p:nvPr/>
        </p:nvSpPr>
        <p:spPr>
          <a:xfrm>
            <a:off x="6140604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2480051-FED8-44CF-AE53-423D7BB49E2D}"/>
              </a:ext>
            </a:extLst>
          </p:cNvPr>
          <p:cNvSpPr>
            <a:spLocks noGrp="1"/>
          </p:cNvSpPr>
          <p:nvPr/>
        </p:nvSpPr>
        <p:spPr>
          <a:xfrm>
            <a:off x="3352800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192DA09-06C4-466E-963B-BB1759D847CA}"/>
              </a:ext>
            </a:extLst>
          </p:cNvPr>
          <p:cNvSpPr>
            <a:spLocks noGrp="1"/>
          </p:cNvSpPr>
          <p:nvPr/>
        </p:nvSpPr>
        <p:spPr>
          <a:xfrm>
            <a:off x="624468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D5A9A55-903F-40D3-9536-2C137D0FDEA8}"/>
              </a:ext>
            </a:extLst>
          </p:cNvPr>
          <p:cNvSpPr>
            <a:spLocks noGrp="1"/>
          </p:cNvSpPr>
          <p:nvPr/>
        </p:nvSpPr>
        <p:spPr>
          <a:xfrm>
            <a:off x="11567532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F7955-5E89-D74C-9EF1-CE55C691D13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28243" y="1893134"/>
            <a:ext cx="2272154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86102F4-C2D7-4949-BBD7-069B15E2BE0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11239" y="1902234"/>
            <a:ext cx="2276961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EFD0E42-6CF3-3B45-8418-50EFC964397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42660" y="1890542"/>
            <a:ext cx="2273870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3411B4C-A7FB-C84C-A916-88C5CFEDAED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711239" y="3498093"/>
            <a:ext cx="2276958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7D50877-D419-A647-A938-AC0D343DB4D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06007" y="5027896"/>
            <a:ext cx="2282190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749A1C5-832F-3641-9E2E-346ED2ADA14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442660" y="3499339"/>
            <a:ext cx="2273868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63CAA6B-5FB2-BE46-98FE-5279349B8F4E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141914" y="1890541"/>
            <a:ext cx="2273210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F950F76-DB7E-EB40-8326-ED06CCFE62E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28242" y="3493305"/>
            <a:ext cx="2272154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4229E0C-62C8-3644-BA3B-504280DC795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926323" y="5027895"/>
            <a:ext cx="2274071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C169B54-58A1-214E-AD85-F41C9E05972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43521" y="5027894"/>
            <a:ext cx="2273005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910A2D85-31D3-7E4E-9E1E-004FBB157EE6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141914" y="3499339"/>
            <a:ext cx="2259195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72B8D38-17CE-6549-B165-F0E689696EA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141913" y="5027893"/>
            <a:ext cx="2302943" cy="54581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</a:lstStyle>
          <a:p>
            <a:pPr lvl="0">
              <a:buNone/>
            </a:pPr>
            <a:r>
              <a:t>Insert Text Here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10 School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0B0EE0F-706F-483A-AC62-2D7DC580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510" y="396775"/>
            <a:ext cx="537926" cy="381031"/>
          </a:xfrm>
          <a:prstGeom prst="rect">
            <a:avLst/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54B1DF2-39FE-4DED-B5F4-D4A790B2A37D}"/>
              </a:ext>
            </a:extLst>
          </p:cNvPr>
          <p:cNvSpPr>
            <a:spLocks noGrp="1"/>
          </p:cNvSpPr>
          <p:nvPr/>
        </p:nvSpPr>
        <p:spPr>
          <a:xfrm>
            <a:off x="0" y="1030494"/>
            <a:ext cx="12251473" cy="32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C880983-2506-481F-8F5D-BD6A4E1BE0A6}"/>
              </a:ext>
            </a:extLst>
          </p:cNvPr>
          <p:cNvSpPr>
            <a:spLocks noGrp="1"/>
          </p:cNvSpPr>
          <p:nvPr/>
        </p:nvSpPr>
        <p:spPr>
          <a:xfrm>
            <a:off x="0" y="2697284"/>
            <a:ext cx="12251473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A17DFC1-3461-4E14-95B4-0518F94633D9}"/>
              </a:ext>
            </a:extLst>
          </p:cNvPr>
          <p:cNvSpPr>
            <a:spLocks noGrp="1"/>
          </p:cNvSpPr>
          <p:nvPr/>
        </p:nvSpPr>
        <p:spPr>
          <a:xfrm>
            <a:off x="0" y="4243145"/>
            <a:ext cx="12192000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74DD282-486F-488D-B89F-7B56649E3F00}"/>
              </a:ext>
            </a:extLst>
          </p:cNvPr>
          <p:cNvSpPr>
            <a:spLocks noGrp="1"/>
          </p:cNvSpPr>
          <p:nvPr/>
        </p:nvSpPr>
        <p:spPr>
          <a:xfrm>
            <a:off x="0" y="5845140"/>
            <a:ext cx="12251473" cy="0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08A21BA-D99E-42E2-9C9D-6049C81B2D4A}"/>
              </a:ext>
            </a:extLst>
          </p:cNvPr>
          <p:cNvSpPr>
            <a:spLocks noGrp="1"/>
          </p:cNvSpPr>
          <p:nvPr/>
        </p:nvSpPr>
        <p:spPr>
          <a:xfrm>
            <a:off x="8868936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1BA126C-9BFF-410A-B8E1-052A7DB5E969}"/>
              </a:ext>
            </a:extLst>
          </p:cNvPr>
          <p:cNvSpPr>
            <a:spLocks noGrp="1"/>
          </p:cNvSpPr>
          <p:nvPr/>
        </p:nvSpPr>
        <p:spPr>
          <a:xfrm>
            <a:off x="6140604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68723F8-37BC-4C29-BAA8-650C987A8E47}"/>
              </a:ext>
            </a:extLst>
          </p:cNvPr>
          <p:cNvSpPr>
            <a:spLocks noGrp="1"/>
          </p:cNvSpPr>
          <p:nvPr/>
        </p:nvSpPr>
        <p:spPr>
          <a:xfrm>
            <a:off x="3352800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AA186F1-E3B2-4509-8348-B5EE3F8C9B01}"/>
              </a:ext>
            </a:extLst>
          </p:cNvPr>
          <p:cNvSpPr>
            <a:spLocks noGrp="1"/>
          </p:cNvSpPr>
          <p:nvPr/>
        </p:nvSpPr>
        <p:spPr>
          <a:xfrm>
            <a:off x="624468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CEE1612-E1C1-41EC-BABF-1400546F693A}"/>
              </a:ext>
            </a:extLst>
          </p:cNvPr>
          <p:cNvSpPr>
            <a:spLocks noGrp="1"/>
          </p:cNvSpPr>
          <p:nvPr/>
        </p:nvSpPr>
        <p:spPr>
          <a:xfrm>
            <a:off x="11567532" y="1030494"/>
            <a:ext cx="0" cy="4814646"/>
          </a:xfrm>
          <a:prstGeom prst="line">
            <a:avLst/>
          </a:prstGeom>
          <a:ln>
            <a:solidFill>
              <a:srgbClr val="D2B1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6BB7B-5CE5-F441-B889-0A1C038B2A36}"/>
              </a:ext>
            </a:extLst>
          </p:cNvPr>
          <p:cNvSpPr>
            <a:spLocks noGrp="1"/>
          </p:cNvSpPr>
          <p:nvPr/>
        </p:nvSpPr>
        <p:spPr>
          <a:xfrm>
            <a:off x="982613" y="2108577"/>
            <a:ext cx="1957170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Blair School of Music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0D162-17AA-414A-B172-551F4ED73BFD}"/>
              </a:ext>
            </a:extLst>
          </p:cNvPr>
          <p:cNvSpPr>
            <a:spLocks noGrp="1"/>
          </p:cNvSpPr>
          <p:nvPr/>
        </p:nvSpPr>
        <p:spPr>
          <a:xfrm>
            <a:off x="3746432" y="1893134"/>
            <a:ext cx="1676317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College of Arts</a:t>
            </a:r>
            <a:br>
              <a:rPr sz="1400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and Sciences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40AECC-2852-3B48-B51A-80B5E7CDBCC7}"/>
              </a:ext>
            </a:extLst>
          </p:cNvPr>
          <p:cNvSpPr>
            <a:spLocks noGrp="1"/>
          </p:cNvSpPr>
          <p:nvPr/>
        </p:nvSpPr>
        <p:spPr>
          <a:xfrm>
            <a:off x="6500009" y="2108577"/>
            <a:ext cx="1676317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Divinity School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663EA-250A-A24A-BF53-0FA1A5EE3B7A}"/>
              </a:ext>
            </a:extLst>
          </p:cNvPr>
          <p:cNvSpPr>
            <a:spLocks noGrp="1"/>
          </p:cNvSpPr>
          <p:nvPr/>
        </p:nvSpPr>
        <p:spPr>
          <a:xfrm>
            <a:off x="9281954" y="2108577"/>
            <a:ext cx="1785072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Graduate School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1B1C5-3349-4846-A0F1-D6E86F5762A6}"/>
              </a:ext>
            </a:extLst>
          </p:cNvPr>
          <p:cNvSpPr>
            <a:spLocks noGrp="1"/>
          </p:cNvSpPr>
          <p:nvPr/>
        </p:nvSpPr>
        <p:spPr>
          <a:xfrm>
            <a:off x="982613" y="3737377"/>
            <a:ext cx="1676317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Law School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F4D32B-9B34-A64E-9C72-44B90CF4B7E1}"/>
              </a:ext>
            </a:extLst>
          </p:cNvPr>
          <p:cNvSpPr>
            <a:spLocks noGrp="1"/>
          </p:cNvSpPr>
          <p:nvPr/>
        </p:nvSpPr>
        <p:spPr>
          <a:xfrm>
            <a:off x="3746432" y="3306490"/>
            <a:ext cx="1676317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Owen Graduate School of Management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DAF53A-0296-F842-B971-2C80F878B028}"/>
              </a:ext>
            </a:extLst>
          </p:cNvPr>
          <p:cNvSpPr>
            <a:spLocks noGrp="1"/>
          </p:cNvSpPr>
          <p:nvPr/>
        </p:nvSpPr>
        <p:spPr>
          <a:xfrm>
            <a:off x="6500009" y="3737377"/>
            <a:ext cx="1676317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Peabody College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441D9-7B8A-7643-B64A-BA688EDCF850}"/>
              </a:ext>
            </a:extLst>
          </p:cNvPr>
          <p:cNvSpPr>
            <a:spLocks noGrp="1"/>
          </p:cNvSpPr>
          <p:nvPr/>
        </p:nvSpPr>
        <p:spPr>
          <a:xfrm>
            <a:off x="9281954" y="3521934"/>
            <a:ext cx="1785072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School of Engineering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856156-5CE2-B74F-8659-51D32F182E20}"/>
              </a:ext>
            </a:extLst>
          </p:cNvPr>
          <p:cNvSpPr>
            <a:spLocks noGrp="1"/>
          </p:cNvSpPr>
          <p:nvPr/>
        </p:nvSpPr>
        <p:spPr>
          <a:xfrm>
            <a:off x="982613" y="5067794"/>
            <a:ext cx="1676317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School of </a:t>
            </a:r>
            <a:b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Medicine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223F9C-2080-5545-8CEE-1BE489720355}"/>
              </a:ext>
            </a:extLst>
          </p:cNvPr>
          <p:cNvSpPr>
            <a:spLocks noGrp="1"/>
          </p:cNvSpPr>
          <p:nvPr/>
        </p:nvSpPr>
        <p:spPr>
          <a:xfrm>
            <a:off x="3746432" y="5067794"/>
            <a:ext cx="1676317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Clr>
                <a:schemeClr val="accent6"/>
              </a:buClr>
              <a:buNone/>
            </a:pP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School of </a:t>
            </a:r>
            <a:b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sz="1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Nursing</a:t>
            </a:r>
            <a:endParaRPr sz="140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UIDE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56C623-889A-D64C-A80F-1588AA9E6D62}"/>
              </a:ext>
            </a:extLst>
          </p:cNvPr>
          <p:cNvSpPr>
            <a:spLocks noGrp="1"/>
          </p:cNvSpPr>
          <p:nvPr/>
        </p:nvSpPr>
        <p:spPr>
          <a:xfrm>
            <a:off x="545695" y="6044910"/>
            <a:ext cx="2508886" cy="35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300">
                <a:latin typeface="Arial"/>
                <a:ea typeface="Arial"/>
                <a:cs typeface="Arial"/>
              </a:rPr>
              <a:t>Arial Sans Body Copy, 13 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2E11D-4718-EA46-8CE2-BE431E7B0D1F}"/>
              </a:ext>
            </a:extLst>
          </p:cNvPr>
          <p:cNvSpPr>
            <a:spLocks noGrp="1"/>
          </p:cNvSpPr>
          <p:nvPr/>
        </p:nvSpPr>
        <p:spPr>
          <a:xfrm>
            <a:off x="521841" y="1849167"/>
            <a:ext cx="5113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latin typeface="Arial"/>
                <a:ea typeface="Arial"/>
                <a:cs typeface="Arial"/>
              </a:rPr>
              <a:t>Headings, Arial 40 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0A615-42F9-534F-B3B0-CB12ECF809A5}"/>
              </a:ext>
            </a:extLst>
          </p:cNvPr>
          <p:cNvSpPr>
            <a:spLocks noGrp="1"/>
          </p:cNvSpPr>
          <p:nvPr/>
        </p:nvSpPr>
        <p:spPr>
          <a:xfrm>
            <a:off x="8807508" y="4998767"/>
            <a:ext cx="1361440" cy="650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BD72B-AD4A-E547-8043-5A7B2C3EC93F}"/>
              </a:ext>
            </a:extLst>
          </p:cNvPr>
          <p:cNvSpPr>
            <a:spLocks noGrp="1"/>
          </p:cNvSpPr>
          <p:nvPr/>
        </p:nvSpPr>
        <p:spPr>
          <a:xfrm>
            <a:off x="7120948" y="1849167"/>
            <a:ext cx="1361440" cy="13004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747E4A-BD1B-6E4C-849D-12970E8D205D}"/>
              </a:ext>
            </a:extLst>
          </p:cNvPr>
          <p:cNvSpPr>
            <a:spLocks noGrp="1"/>
          </p:cNvSpPr>
          <p:nvPr/>
        </p:nvSpPr>
        <p:spPr>
          <a:xfrm>
            <a:off x="8807508" y="3418827"/>
            <a:ext cx="1361440" cy="13004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FC237-D8C5-C840-9451-D7B5FB58F94B}"/>
              </a:ext>
            </a:extLst>
          </p:cNvPr>
          <p:cNvSpPr>
            <a:spLocks noGrp="1"/>
          </p:cNvSpPr>
          <p:nvPr/>
        </p:nvSpPr>
        <p:spPr>
          <a:xfrm>
            <a:off x="7106490" y="3418827"/>
            <a:ext cx="1361440" cy="13004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289AF-EC1A-4A4A-8E7D-3E57AC20108D}"/>
              </a:ext>
            </a:extLst>
          </p:cNvPr>
          <p:cNvSpPr>
            <a:spLocks noGrp="1"/>
          </p:cNvSpPr>
          <p:nvPr/>
        </p:nvSpPr>
        <p:spPr>
          <a:xfrm>
            <a:off x="8807508" y="5648947"/>
            <a:ext cx="1361440" cy="604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F88104-CA0B-734C-BBE7-F868FED1D742}"/>
              </a:ext>
            </a:extLst>
          </p:cNvPr>
          <p:cNvSpPr>
            <a:spLocks noGrp="1"/>
          </p:cNvSpPr>
          <p:nvPr/>
        </p:nvSpPr>
        <p:spPr>
          <a:xfrm>
            <a:off x="8807508" y="1849167"/>
            <a:ext cx="1361440" cy="13004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E0421E2-68A4-46DF-9DA4-59B9B375934D}"/>
              </a:ext>
            </a:extLst>
          </p:cNvPr>
          <p:cNvSpPr>
            <a:spLocks noGrp="1"/>
          </p:cNvSpPr>
          <p:nvPr/>
        </p:nvSpPr>
        <p:spPr>
          <a:xfrm>
            <a:off x="8447610" y="1849167"/>
            <a:ext cx="0" cy="1300420"/>
          </a:xfrm>
          <a:prstGeom prst="line">
            <a:avLst/>
          </a:prstGeom>
          <a:ln w="82550"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5F1E7-E645-FB45-A6BA-04684AACD01C}"/>
              </a:ext>
            </a:extLst>
          </p:cNvPr>
          <p:cNvSpPr>
            <a:spLocks noGrp="1"/>
          </p:cNvSpPr>
          <p:nvPr/>
        </p:nvSpPr>
        <p:spPr>
          <a:xfrm>
            <a:off x="7120948" y="1849167"/>
            <a:ext cx="81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Black</a:t>
            </a:r>
            <a:b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1c1c1c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2AE29-8ADA-C046-9599-92EF9A546173}"/>
              </a:ext>
            </a:extLst>
          </p:cNvPr>
          <p:cNvSpPr>
            <a:spLocks noGrp="1"/>
          </p:cNvSpPr>
          <p:nvPr/>
        </p:nvSpPr>
        <p:spPr>
          <a:xfrm>
            <a:off x="8807508" y="1849167"/>
            <a:ext cx="81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White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FFFFFF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E73C1E-53A4-D84D-A178-5B5A617F78BC}"/>
              </a:ext>
            </a:extLst>
          </p:cNvPr>
          <p:cNvSpPr>
            <a:spLocks noGrp="1"/>
          </p:cNvSpPr>
          <p:nvPr/>
        </p:nvSpPr>
        <p:spPr>
          <a:xfrm>
            <a:off x="7120948" y="3413807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Light Grey</a:t>
            </a:r>
            <a:br>
              <a:rPr sz="1000">
                <a:latin typeface="Arial"/>
                <a:ea typeface="Arial"/>
                <a:cs typeface="Arial"/>
              </a:rPr>
            </a:br>
            <a:r>
              <a:rPr sz="1000"/>
              <a:t>E4E4E4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D535D-A10D-514B-9F9F-0844839B3629}"/>
              </a:ext>
            </a:extLst>
          </p:cNvPr>
          <p:cNvSpPr>
            <a:spLocks noGrp="1"/>
          </p:cNvSpPr>
          <p:nvPr/>
        </p:nvSpPr>
        <p:spPr>
          <a:xfrm>
            <a:off x="7106490" y="4998737"/>
            <a:ext cx="1361440" cy="13004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09E39-741B-D44A-8266-1421FF133A91}"/>
              </a:ext>
            </a:extLst>
          </p:cNvPr>
          <p:cNvSpPr>
            <a:spLocks noGrp="1"/>
          </p:cNvSpPr>
          <p:nvPr/>
        </p:nvSpPr>
        <p:spPr>
          <a:xfrm>
            <a:off x="7141268" y="5017661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Dark Grey</a:t>
            </a:r>
            <a:b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1000">
                <a:solidFill>
                  <a:schemeClr val="bg1"/>
                </a:solidFill>
              </a:rPr>
              <a:t>777777</a:t>
            </a:r>
            <a:endParaRPr sz="10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FDDBAB-FE01-2341-BA73-05964EA44299}"/>
              </a:ext>
            </a:extLst>
          </p:cNvPr>
          <p:cNvSpPr>
            <a:spLocks noGrp="1"/>
          </p:cNvSpPr>
          <p:nvPr/>
        </p:nvSpPr>
        <p:spPr>
          <a:xfrm>
            <a:off x="8807508" y="3413807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Sand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E0D5C0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37DFF-CC88-6842-A062-F7997C8B4514}"/>
              </a:ext>
            </a:extLst>
          </p:cNvPr>
          <p:cNvSpPr>
            <a:spLocks noGrp="1"/>
          </p:cNvSpPr>
          <p:nvPr/>
        </p:nvSpPr>
        <p:spPr>
          <a:xfrm>
            <a:off x="8807508" y="4998767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Highlight</a:t>
            </a:r>
            <a:br>
              <a:rPr sz="1000"/>
            </a:br>
            <a:r>
              <a:rPr sz="1000"/>
              <a:t>ECB748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E7D320-ED07-994F-8D89-6E0937B549A5}"/>
              </a:ext>
            </a:extLst>
          </p:cNvPr>
          <p:cNvSpPr>
            <a:spLocks noGrp="1"/>
          </p:cNvSpPr>
          <p:nvPr/>
        </p:nvSpPr>
        <p:spPr>
          <a:xfrm>
            <a:off x="8807508" y="5649007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Sky</a:t>
            </a:r>
            <a:br>
              <a:rPr sz="1000"/>
            </a:br>
            <a:r>
              <a:rPr sz="1000"/>
              <a:t>B3C9CD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6ED116-782C-3A44-A5B2-3C1ED2B9CCBE}"/>
              </a:ext>
            </a:extLst>
          </p:cNvPr>
          <p:cNvSpPr>
            <a:spLocks noGrp="1"/>
          </p:cNvSpPr>
          <p:nvPr/>
        </p:nvSpPr>
        <p:spPr>
          <a:xfrm>
            <a:off x="629505" y="4405634"/>
            <a:ext cx="4898050" cy="49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D2B16D"/>
              </a:buClr>
              <a:buSzPct val="70000"/>
              <a:buFont typeface="Arial"/>
              <a:buChar char="•"/>
            </a:pPr>
            <a:r>
              <a:rPr sz="2000">
                <a:latin typeface="Arial"/>
                <a:ea typeface="Arial"/>
                <a:cs typeface="Arial"/>
              </a:rPr>
              <a:t>Large Bullets, Arial, 20 pt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86519E-0EA4-AB4F-BDE2-EB72A52F437E}"/>
              </a:ext>
            </a:extLst>
          </p:cNvPr>
          <p:cNvSpPr>
            <a:spLocks noGrp="1"/>
          </p:cNvSpPr>
          <p:nvPr/>
        </p:nvSpPr>
        <p:spPr>
          <a:xfrm>
            <a:off x="545695" y="5538301"/>
            <a:ext cx="250888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600">
                <a:latin typeface="Arial"/>
                <a:ea typeface="Arial"/>
                <a:cs typeface="Arial"/>
              </a:rPr>
              <a:t>Arial Subhead,16 pt</a:t>
            </a:r>
          </a:p>
        </p:txBody>
      </p:sp>
      <p:sp>
        <p:nvSpPr>
          <p:cNvPr id="24" name="Object13">
            <a:extLst>
              <a:ext uri="{FF2B5EF4-FFF2-40B4-BE49-F238E27FC236}">
                <a16:creationId xmlns:a16="http://schemas.microsoft.com/office/drawing/2014/main" id="{4A489953-6FB5-F741-9FA2-46C088632D1F}"/>
              </a:ext>
            </a:extLst>
          </p:cNvPr>
          <p:cNvSpPr>
            <a:spLocks noGrp="1"/>
          </p:cNvSpPr>
          <p:nvPr/>
        </p:nvSpPr>
        <p:spPr>
          <a:xfrm>
            <a:off x="1052495" y="5017781"/>
            <a:ext cx="1900486" cy="2741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150000"/>
              </a:lnSpc>
              <a:buClr>
                <a:schemeClr val="accent2"/>
              </a:buClr>
              <a:buFont typeface="Arial"/>
              <a:buChar char="•"/>
            </a:pPr>
            <a:r>
              <a:rPr sz="1000">
                <a:solidFill>
                  <a:schemeClr val="tx2"/>
                </a:solidFill>
                <a:latin typeface="Arial"/>
                <a:ea typeface="Arial"/>
                <a:cs typeface="Arial"/>
              </a:rPr>
              <a:t>Small Bullets, Arial, 10 pt</a:t>
            </a:r>
          </a:p>
        </p:txBody>
      </p:sp>
      <p:sp>
        <p:nvSpPr>
          <p:cNvPr id="25" name="Object4">
            <a:extLst>
              <a:ext uri="{FF2B5EF4-FFF2-40B4-BE49-F238E27FC236}">
                <a16:creationId xmlns:a16="http://schemas.microsoft.com/office/drawing/2014/main" id="{7B7B9E91-D001-2C4B-8006-89E16166AD20}"/>
              </a:ext>
            </a:extLst>
          </p:cNvPr>
          <p:cNvSpPr>
            <a:spLocks noGrp="1"/>
          </p:cNvSpPr>
          <p:nvPr/>
        </p:nvSpPr>
        <p:spPr>
          <a:xfrm>
            <a:off x="629505" y="3577594"/>
            <a:ext cx="3677920" cy="828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3037"/>
              </a:lnSpc>
              <a:spcAft>
                <a:spcPts val="1450"/>
              </a:spcAft>
              <a:buNone/>
            </a:pPr>
            <a:r>
              <a:rPr sz="2200">
                <a:latin typeface="Times New Roman"/>
                <a:ea typeface="Times New Roman"/>
                <a:cs typeface="Times New Roman"/>
              </a:rPr>
              <a:t>Large Statement, Times, 22 pt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44110B-E6AC-0E4F-86A9-410524E79ED7}"/>
              </a:ext>
            </a:extLst>
          </p:cNvPr>
          <p:cNvSpPr>
            <a:spLocks noGrp="1"/>
          </p:cNvSpPr>
          <p:nvPr/>
        </p:nvSpPr>
        <p:spPr>
          <a:xfrm>
            <a:off x="521841" y="2696674"/>
            <a:ext cx="4694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Arial"/>
                <a:ea typeface="Arial"/>
                <a:cs typeface="Arial"/>
              </a:rPr>
              <a:t>Subtitles, Arial, 36 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2664CB-322A-E34F-8539-B80BDF759C0F}"/>
              </a:ext>
            </a:extLst>
          </p:cNvPr>
          <p:cNvSpPr>
            <a:spLocks noGrp="1"/>
          </p:cNvSpPr>
          <p:nvPr/>
        </p:nvSpPr>
        <p:spPr>
          <a:xfrm>
            <a:off x="8807508" y="2476435"/>
            <a:ext cx="1361440" cy="673152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0362D7-CE1B-2949-89F1-84E55779FEE7}"/>
              </a:ext>
            </a:extLst>
          </p:cNvPr>
          <p:cNvSpPr>
            <a:spLocks noGrp="1"/>
          </p:cNvSpPr>
          <p:nvPr/>
        </p:nvSpPr>
        <p:spPr>
          <a:xfrm>
            <a:off x="8807508" y="2492980"/>
            <a:ext cx="81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Cream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F5F3EF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A1BADA06-9DE0-4F98-9D8B-7BCBEF88620C}"/>
              </a:ext>
            </a:extLst>
          </p:cNvPr>
          <p:cNvSpPr>
            <a:spLocks noGrp="1"/>
          </p:cNvSpPr>
          <p:nvPr/>
        </p:nvSpPr>
        <p:spPr>
          <a:xfrm>
            <a:off x="593012" y="1017632"/>
            <a:ext cx="108427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836242-D62C-1942-AD70-BD64D3073DC7}"/>
              </a:ext>
            </a:extLst>
          </p:cNvPr>
          <p:cNvSpPr>
            <a:spLocks noGrp="1"/>
          </p:cNvSpPr>
          <p:nvPr/>
        </p:nvSpPr>
        <p:spPr>
          <a:xfrm>
            <a:off x="472917" y="343881"/>
            <a:ext cx="1096286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300" b="1" i="0" spc="300">
                <a:latin typeface="Arial"/>
                <a:ea typeface="Arial"/>
                <a:cs typeface="Arial"/>
              </a:rPr>
              <a:t>THEME FONTS AND COLORS</a:t>
            </a:r>
            <a:endParaRPr sz="3300" b="1" i="0" spc="300" baseline="0"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5D6674-7026-FC4D-BE16-17F37B89C66A}"/>
              </a:ext>
            </a:extLst>
          </p:cNvPr>
          <p:cNvSpPr>
            <a:spLocks noGrp="1"/>
          </p:cNvSpPr>
          <p:nvPr/>
        </p:nvSpPr>
        <p:spPr>
          <a:xfrm>
            <a:off x="500412" y="1238057"/>
            <a:ext cx="3816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spc="300" baseline="0">
                <a:solidFill>
                  <a:schemeClr val="tx2"/>
                </a:solidFill>
                <a:latin typeface="Arial"/>
                <a:ea typeface="Arial"/>
                <a:cs typeface="Arial"/>
              </a:rPr>
              <a:t>FONTS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0E2FECD8-8875-4C89-8FF7-950D2326AB9A}"/>
              </a:ext>
            </a:extLst>
          </p:cNvPr>
          <p:cNvSpPr>
            <a:spLocks noGrp="1"/>
          </p:cNvSpPr>
          <p:nvPr/>
        </p:nvSpPr>
        <p:spPr>
          <a:xfrm>
            <a:off x="593012" y="1683345"/>
            <a:ext cx="356212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50948-03D5-4443-BEDD-B8A5A62130C7}"/>
              </a:ext>
            </a:extLst>
          </p:cNvPr>
          <p:cNvSpPr>
            <a:spLocks noGrp="1"/>
          </p:cNvSpPr>
          <p:nvPr/>
        </p:nvSpPr>
        <p:spPr>
          <a:xfrm>
            <a:off x="6975652" y="1238057"/>
            <a:ext cx="4999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spc="300" baseline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COLORS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FF39AFD4-D026-49D5-9199-EB90369038F0}"/>
              </a:ext>
            </a:extLst>
          </p:cNvPr>
          <p:cNvSpPr>
            <a:spLocks noGrp="1"/>
          </p:cNvSpPr>
          <p:nvPr/>
        </p:nvSpPr>
        <p:spPr>
          <a:xfrm>
            <a:off x="7068252" y="1683345"/>
            <a:ext cx="423447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UID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3B2A029-5966-4E82-85B3-3A0A7EC6B84D}"/>
              </a:ext>
            </a:extLst>
          </p:cNvPr>
          <p:cNvSpPr>
            <a:spLocks noGrp="1"/>
          </p:cNvSpPr>
          <p:nvPr/>
        </p:nvSpPr>
        <p:spPr>
          <a:xfrm>
            <a:off x="593012" y="1017632"/>
            <a:ext cx="108427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72C731-1402-D34C-B7DD-4065D53CE563}"/>
              </a:ext>
            </a:extLst>
          </p:cNvPr>
          <p:cNvSpPr>
            <a:spLocks noGrp="1"/>
          </p:cNvSpPr>
          <p:nvPr/>
        </p:nvSpPr>
        <p:spPr>
          <a:xfrm>
            <a:off x="472918" y="343881"/>
            <a:ext cx="5981125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300" b="1" i="0" spc="300">
                <a:latin typeface="Arial"/>
                <a:ea typeface="Arial"/>
                <a:cs typeface="Arial"/>
              </a:rPr>
              <a:t>TEMPLATE GUIDELINES</a:t>
            </a:r>
            <a:endParaRPr sz="3300" b="1" i="0" spc="300" baseline="0"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FBCD6-4509-E545-897B-13343F0A4AA2}"/>
              </a:ext>
            </a:extLst>
          </p:cNvPr>
          <p:cNvSpPr>
            <a:spLocks noGrp="1"/>
          </p:cNvSpPr>
          <p:nvPr/>
        </p:nvSpPr>
        <p:spPr>
          <a:xfrm>
            <a:off x="500412" y="1238057"/>
            <a:ext cx="3816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spc="300" baseline="0">
                <a:solidFill>
                  <a:schemeClr val="tx2"/>
                </a:solidFill>
                <a:latin typeface="Arial"/>
                <a:ea typeface="Arial"/>
                <a:cs typeface="Arial"/>
              </a:rPr>
              <a:t>USING SLIDE LAYOUTS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6E03501A-A038-4805-9346-01C5101981EC}"/>
              </a:ext>
            </a:extLst>
          </p:cNvPr>
          <p:cNvSpPr>
            <a:spLocks noGrp="1"/>
          </p:cNvSpPr>
          <p:nvPr/>
        </p:nvSpPr>
        <p:spPr>
          <a:xfrm>
            <a:off x="593012" y="1683345"/>
            <a:ext cx="356212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9A14FE-18BE-6142-B636-9CCED47D817E}"/>
              </a:ext>
            </a:extLst>
          </p:cNvPr>
          <p:cNvSpPr>
            <a:spLocks noGrp="1"/>
          </p:cNvSpPr>
          <p:nvPr/>
        </p:nvSpPr>
        <p:spPr>
          <a:xfrm>
            <a:off x="520121" y="1883971"/>
            <a:ext cx="2933258" cy="34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200"/>
              </a:lnSpc>
              <a:buNone/>
            </a:pPr>
            <a:r>
              <a:rPr sz="1400" b="1" i="0" spc="150" baseline="0">
                <a:latin typeface="Arial"/>
                <a:ea typeface="Arial"/>
                <a:cs typeface="Arial"/>
              </a:rPr>
              <a:t>To insert a new slide: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8843B7-205D-3946-ABAE-B1BDBD70F068}"/>
              </a:ext>
            </a:extLst>
          </p:cNvPr>
          <p:cNvSpPr>
            <a:spLocks noGrp="1"/>
          </p:cNvSpPr>
          <p:nvPr/>
        </p:nvSpPr>
        <p:spPr>
          <a:xfrm>
            <a:off x="520120" y="2285462"/>
            <a:ext cx="4872151" cy="143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Click the arrow on the right slide of the </a:t>
            </a:r>
            <a:br>
              <a:rPr sz="1200" b="0" i="0" spc="150" baseline="0">
                <a:latin typeface="Arial"/>
                <a:ea typeface="Arial"/>
                <a:cs typeface="Arial"/>
              </a:rPr>
            </a:br>
            <a:r>
              <a:rPr sz="1200" b="0" i="0" spc="150" baseline="0">
                <a:latin typeface="Arial"/>
                <a:ea typeface="Arial"/>
                <a:cs typeface="Arial"/>
              </a:rPr>
              <a:t>New Slide button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Choose an appropriate layout from</a:t>
            </a:r>
            <a:br>
              <a:rPr sz="1200" b="0" i="0" spc="150" baseline="0">
                <a:latin typeface="Arial"/>
                <a:ea typeface="Arial"/>
                <a:cs typeface="Arial"/>
              </a:rPr>
            </a:br>
            <a:r>
              <a:rPr sz="1200" b="0" i="0" spc="150" baseline="0">
                <a:latin typeface="Arial"/>
                <a:ea typeface="Arial"/>
                <a:cs typeface="Arial"/>
              </a:rPr>
              <a:t>the gallery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Edit as needed, following the guidelines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ECCC39-BB65-AC40-AD18-8F381A0C05D3}"/>
              </a:ext>
            </a:extLst>
          </p:cNvPr>
          <p:cNvSpPr>
            <a:spLocks noGrp="1"/>
          </p:cNvSpPr>
          <p:nvPr/>
        </p:nvSpPr>
        <p:spPr>
          <a:xfrm>
            <a:off x="5785109" y="1238057"/>
            <a:ext cx="4999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spc="300" baseline="0">
                <a:solidFill>
                  <a:schemeClr val="tx2"/>
                </a:solidFill>
                <a:latin typeface="Arial"/>
                <a:ea typeface="Arial"/>
                <a:cs typeface="Arial"/>
              </a:rPr>
              <a:t>CHANGING SLIDE LAYOUTS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C11437DE-58AB-461C-825E-F2581EC81A9A}"/>
              </a:ext>
            </a:extLst>
          </p:cNvPr>
          <p:cNvSpPr>
            <a:spLocks noGrp="1"/>
          </p:cNvSpPr>
          <p:nvPr/>
        </p:nvSpPr>
        <p:spPr>
          <a:xfrm>
            <a:off x="5877709" y="1683345"/>
            <a:ext cx="423447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EE09A-33B1-9548-B0A8-602C83122867}"/>
              </a:ext>
            </a:extLst>
          </p:cNvPr>
          <p:cNvSpPr>
            <a:spLocks noGrp="1"/>
          </p:cNvSpPr>
          <p:nvPr/>
        </p:nvSpPr>
        <p:spPr>
          <a:xfrm>
            <a:off x="5804817" y="1883971"/>
            <a:ext cx="5630970" cy="626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200"/>
              </a:lnSpc>
              <a:buNone/>
            </a:pPr>
            <a:r>
              <a:rPr sz="1400" b="1" i="0" spc="150" baseline="0">
                <a:latin typeface="Arial"/>
                <a:ea typeface="Arial"/>
                <a:cs typeface="Arial"/>
              </a:rPr>
              <a:t>If you wish to use a different layout for your existing slide, there is no need to insert a new one. Simply: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1C6390-568E-664C-ACF3-B99CCB8654EF}"/>
              </a:ext>
            </a:extLst>
          </p:cNvPr>
          <p:cNvSpPr>
            <a:spLocks noGrp="1"/>
          </p:cNvSpPr>
          <p:nvPr/>
        </p:nvSpPr>
        <p:spPr>
          <a:xfrm>
            <a:off x="5794963" y="2880710"/>
            <a:ext cx="4979724" cy="6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With your slide selected, click in the Layout button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Choose a new layout from the gallery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F05F79-EC1D-A349-A6B8-A12B4B8D0A25}"/>
              </a:ext>
            </a:extLst>
          </p:cNvPr>
          <p:cNvSpPr>
            <a:spLocks noGrp="1"/>
          </p:cNvSpPr>
          <p:nvPr/>
        </p:nvSpPr>
        <p:spPr>
          <a:xfrm>
            <a:off x="500412" y="4204094"/>
            <a:ext cx="3816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spc="300" baseline="0">
                <a:solidFill>
                  <a:schemeClr val="tx2"/>
                </a:solidFill>
                <a:latin typeface="Arial"/>
                <a:ea typeface="Arial"/>
                <a:cs typeface="Arial"/>
              </a:rPr>
              <a:t>ADDING PHOTOS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A2C82AFA-DDBF-4ACF-AC5B-938A5FF0261F}"/>
              </a:ext>
            </a:extLst>
          </p:cNvPr>
          <p:cNvSpPr>
            <a:spLocks noGrp="1"/>
          </p:cNvSpPr>
          <p:nvPr/>
        </p:nvSpPr>
        <p:spPr>
          <a:xfrm>
            <a:off x="593012" y="4649382"/>
            <a:ext cx="356212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FD4B2C-D8ED-6B48-AE76-57FC0651AA54}"/>
              </a:ext>
            </a:extLst>
          </p:cNvPr>
          <p:cNvSpPr>
            <a:spLocks noGrp="1"/>
          </p:cNvSpPr>
          <p:nvPr/>
        </p:nvSpPr>
        <p:spPr>
          <a:xfrm>
            <a:off x="520120" y="4819272"/>
            <a:ext cx="2933258" cy="34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200"/>
              </a:lnSpc>
              <a:buNone/>
            </a:pPr>
            <a:r>
              <a:rPr sz="1400" b="1" i="0" spc="150" baseline="0">
                <a:latin typeface="Arial"/>
                <a:ea typeface="Arial"/>
                <a:cs typeface="Arial"/>
              </a:rPr>
              <a:t>To add photos: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14F1C2-5923-6443-8748-E242306AC19E}"/>
              </a:ext>
            </a:extLst>
          </p:cNvPr>
          <p:cNvSpPr>
            <a:spLocks noGrp="1"/>
          </p:cNvSpPr>
          <p:nvPr/>
        </p:nvSpPr>
        <p:spPr>
          <a:xfrm>
            <a:off x="520120" y="5236131"/>
            <a:ext cx="75327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Click on the placeholder icon and upload desired image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Once uploaded choose “Picture Format” in the top ribbon menu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sz="1200" b="0" i="0" spc="150" baseline="0">
                <a:latin typeface="Arial"/>
                <a:ea typeface="Arial"/>
                <a:cs typeface="Arial"/>
              </a:rPr>
              <a:t>Click on the “Crop” dropdown and choose “Fill” then drag image to reframe</a:t>
            </a:r>
          </a:p>
          <a:p>
            <a:pPr marL="0" lvl="0" indent="0">
              <a:lnSpc>
                <a:spcPct val="100000"/>
              </a:lnSpc>
              <a:buFont typeface="+mj-lt"/>
              <a:buNone/>
            </a:pPr>
            <a:endParaRPr sz="1600" b="0" i="0" spc="150" baseline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CE450-DFD0-4B81-819E-96E47BE0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F18A-4E82-4E1E-B3DA-BFD1492F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77FEB-88C2-49B2-B6BF-0544EF9FF33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4FA05971-6ECE-3048-89D4-C8CDCDF8108F}" type="datetime4">
              <a:t>October 29, 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6EED-5504-491C-BD02-CCA3FA801B5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1B98-8115-4964-AEA0-3827D8403D3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5F19FF4C-6E22-8645-B7ED-109F1958085F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71D03-3865-D34B-8E7F-4D9212E48FF0}"/>
              </a:ext>
            </a:extLst>
          </p:cNvPr>
          <p:cNvSpPr>
            <a:spLocks noGrp="1"/>
          </p:cNvSpPr>
          <p:nvPr/>
        </p:nvSpPr>
        <p:spPr>
          <a:xfrm>
            <a:off x="-1336363" y="4289458"/>
            <a:ext cx="1143775" cy="604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BC954E-AAA1-BD40-A56D-98BAB934B2A6}"/>
              </a:ext>
            </a:extLst>
          </p:cNvPr>
          <p:cNvSpPr>
            <a:spLocks noGrp="1"/>
          </p:cNvSpPr>
          <p:nvPr/>
        </p:nvSpPr>
        <p:spPr>
          <a:xfrm>
            <a:off x="-1321905" y="276999"/>
            <a:ext cx="1129317" cy="5991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1131E6-79A8-1248-9C11-D19D84E4070A}"/>
              </a:ext>
            </a:extLst>
          </p:cNvPr>
          <p:cNvSpPr>
            <a:spLocks noGrp="1"/>
          </p:cNvSpPr>
          <p:nvPr/>
        </p:nvSpPr>
        <p:spPr>
          <a:xfrm>
            <a:off x="-1336363" y="3593426"/>
            <a:ext cx="1143775" cy="6067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6EED77-DA3A-C246-8826-3C95DA6290B2}"/>
              </a:ext>
            </a:extLst>
          </p:cNvPr>
          <p:cNvSpPr>
            <a:spLocks noGrp="1"/>
          </p:cNvSpPr>
          <p:nvPr/>
        </p:nvSpPr>
        <p:spPr>
          <a:xfrm>
            <a:off x="-1336362" y="941894"/>
            <a:ext cx="1129316" cy="5991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26DDE-1973-9249-8B67-79F28A67A5CC}"/>
              </a:ext>
            </a:extLst>
          </p:cNvPr>
          <p:cNvSpPr>
            <a:spLocks noGrp="1"/>
          </p:cNvSpPr>
          <p:nvPr/>
        </p:nvSpPr>
        <p:spPr>
          <a:xfrm>
            <a:off x="-1336363" y="4983173"/>
            <a:ext cx="1129315" cy="604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ADD5C-05AF-2849-808E-5A5329FE307B}"/>
              </a:ext>
            </a:extLst>
          </p:cNvPr>
          <p:cNvSpPr>
            <a:spLocks noGrp="1"/>
          </p:cNvSpPr>
          <p:nvPr/>
        </p:nvSpPr>
        <p:spPr>
          <a:xfrm>
            <a:off x="-1336363" y="2268952"/>
            <a:ext cx="1129315" cy="58386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211CC68-806B-4A27-8274-0F1B1EA15218}"/>
              </a:ext>
            </a:extLst>
          </p:cNvPr>
          <p:cNvSpPr>
            <a:spLocks noGrp="1"/>
          </p:cNvSpPr>
          <p:nvPr/>
        </p:nvSpPr>
        <p:spPr>
          <a:xfrm>
            <a:off x="-229369" y="276999"/>
            <a:ext cx="0" cy="599123"/>
          </a:xfrm>
          <a:prstGeom prst="line">
            <a:avLst/>
          </a:prstGeom>
          <a:ln w="82550">
            <a:gradFill flip="none" rotWithShape="1">
              <a:gsLst>
                <a:gs pos="0">
                  <a:srgbClr val="FEEEB6"/>
                </a:gs>
                <a:gs pos="100000">
                  <a:srgbClr val="B49248"/>
                </a:gs>
              </a:gsLst>
              <a:lin ang="2700000" scaled="0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81A33-7A78-A745-B85F-272ACD897C6A}"/>
              </a:ext>
            </a:extLst>
          </p:cNvPr>
          <p:cNvSpPr>
            <a:spLocks noGrp="1"/>
          </p:cNvSpPr>
          <p:nvPr/>
        </p:nvSpPr>
        <p:spPr>
          <a:xfrm>
            <a:off x="-1321904" y="276999"/>
            <a:ext cx="671342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Black</a:t>
            </a:r>
            <a:b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1c1c1c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E2321-9A11-C64F-94E7-483770247088}"/>
              </a:ext>
            </a:extLst>
          </p:cNvPr>
          <p:cNvSpPr>
            <a:spLocks noGrp="1"/>
          </p:cNvSpPr>
          <p:nvPr/>
        </p:nvSpPr>
        <p:spPr>
          <a:xfrm>
            <a:off x="-1336363" y="2268952"/>
            <a:ext cx="685801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White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FFFFFF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381ED-C72B-874C-B467-99E2F441CCAD}"/>
              </a:ext>
            </a:extLst>
          </p:cNvPr>
          <p:cNvSpPr>
            <a:spLocks noGrp="1"/>
          </p:cNvSpPr>
          <p:nvPr/>
        </p:nvSpPr>
        <p:spPr>
          <a:xfrm>
            <a:off x="-1321904" y="936874"/>
            <a:ext cx="81233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Light Grey</a:t>
            </a:r>
            <a:br>
              <a:rPr sz="1000">
                <a:latin typeface="Arial"/>
                <a:ea typeface="Arial"/>
                <a:cs typeface="Arial"/>
              </a:rPr>
            </a:br>
            <a:r>
              <a:rPr sz="1000"/>
              <a:t>E4E4E4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FF914F-CFCB-D848-ADFF-6E9476EB121C}"/>
              </a:ext>
            </a:extLst>
          </p:cNvPr>
          <p:cNvSpPr>
            <a:spLocks noGrp="1"/>
          </p:cNvSpPr>
          <p:nvPr/>
        </p:nvSpPr>
        <p:spPr>
          <a:xfrm>
            <a:off x="-1336363" y="1605423"/>
            <a:ext cx="1129315" cy="5991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D0814-E463-9D45-AEB0-1B8834E02DA1}"/>
              </a:ext>
            </a:extLst>
          </p:cNvPr>
          <p:cNvSpPr>
            <a:spLocks noGrp="1"/>
          </p:cNvSpPr>
          <p:nvPr/>
        </p:nvSpPr>
        <p:spPr>
          <a:xfrm>
            <a:off x="-1301584" y="1624347"/>
            <a:ext cx="792014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Dark Grey</a:t>
            </a:r>
            <a:b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1000">
                <a:solidFill>
                  <a:schemeClr val="bg1"/>
                </a:solidFill>
              </a:rPr>
              <a:t>777777</a:t>
            </a:r>
            <a:endParaRPr sz="10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062F4-50A3-5F4D-97CC-2E68DAC9E8D1}"/>
              </a:ext>
            </a:extLst>
          </p:cNvPr>
          <p:cNvSpPr>
            <a:spLocks noGrp="1"/>
          </p:cNvSpPr>
          <p:nvPr/>
        </p:nvSpPr>
        <p:spPr>
          <a:xfrm>
            <a:off x="-1336363" y="3588406"/>
            <a:ext cx="685801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Sand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E0D5C0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F9139F-AB33-C942-A4C9-2A932C16E874}"/>
              </a:ext>
            </a:extLst>
          </p:cNvPr>
          <p:cNvSpPr>
            <a:spLocks noGrp="1"/>
          </p:cNvSpPr>
          <p:nvPr/>
        </p:nvSpPr>
        <p:spPr>
          <a:xfrm>
            <a:off x="-1336363" y="4289458"/>
            <a:ext cx="685801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Highlight</a:t>
            </a:r>
            <a:br>
              <a:rPr sz="1000"/>
            </a:br>
            <a:r>
              <a:rPr sz="1000"/>
              <a:t>ECB748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E3D5FF-412F-3446-9C5A-C792CFFD52B8}"/>
              </a:ext>
            </a:extLst>
          </p:cNvPr>
          <p:cNvSpPr>
            <a:spLocks noGrp="1"/>
          </p:cNvSpPr>
          <p:nvPr/>
        </p:nvSpPr>
        <p:spPr>
          <a:xfrm>
            <a:off x="-1336363" y="4983233"/>
            <a:ext cx="685801" cy="529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/>
              <a:t>Sky</a:t>
            </a:r>
            <a:br>
              <a:rPr sz="1000"/>
            </a:br>
            <a:r>
              <a:rPr sz="1000"/>
              <a:t>B3C9CD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B308F8-FDBB-D94E-AAD4-B7C8DE6E641C}"/>
              </a:ext>
            </a:extLst>
          </p:cNvPr>
          <p:cNvSpPr>
            <a:spLocks noGrp="1"/>
          </p:cNvSpPr>
          <p:nvPr/>
        </p:nvSpPr>
        <p:spPr>
          <a:xfrm>
            <a:off x="-1336363" y="2917223"/>
            <a:ext cx="1143775" cy="606777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E59B3-A31D-5B49-A390-48365EC49154}"/>
              </a:ext>
            </a:extLst>
          </p:cNvPr>
          <p:cNvSpPr>
            <a:spLocks noGrp="1"/>
          </p:cNvSpPr>
          <p:nvPr/>
        </p:nvSpPr>
        <p:spPr>
          <a:xfrm>
            <a:off x="-1336363" y="2933768"/>
            <a:ext cx="685801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Cream</a:t>
            </a:r>
          </a:p>
          <a:p>
            <a:pPr>
              <a:lnSpc>
                <a:spcPct val="150000"/>
              </a:lnSpc>
              <a:buClr>
                <a:srgbClr val="D2B16D"/>
              </a:buClr>
              <a:buSzPct val="70000"/>
              <a:buNone/>
            </a:pPr>
            <a:r>
              <a:rPr sz="1000">
                <a:latin typeface="Arial"/>
                <a:ea typeface="Arial"/>
                <a:cs typeface="Arial"/>
              </a:rPr>
              <a:t>F5F3EF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4DBEA-F44D-1D46-88A3-F25117523E43}"/>
              </a:ext>
            </a:extLst>
          </p:cNvPr>
          <p:cNvSpPr>
            <a:spLocks noGrp="1"/>
          </p:cNvSpPr>
          <p:nvPr/>
        </p:nvSpPr>
        <p:spPr>
          <a:xfrm>
            <a:off x="-1378395" y="0"/>
            <a:ext cx="11293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00" baseline="0">
                <a:latin typeface="+mj-lt"/>
                <a:ea typeface="+mj-lt"/>
                <a:cs typeface="+mj-lt"/>
              </a:rPr>
              <a:t>Colors: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/>
  <p:txStyles>
    <p:titleStyle>
      <a:lvl1pPr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4A00BA-B442-AC46-A209-60010293B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733675"/>
            <a:ext cx="5128070" cy="1333500"/>
          </a:xfrm>
        </p:spPr>
        <p:txBody>
          <a:bodyPr lIns="0" tIns="0" rIns="0" bIns="0">
            <a:noAutofit/>
          </a:bodyPr>
          <a:lstStyle>
            <a:defPPr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E0D5C0"/>
                </a:solidFill>
                <a:latin typeface="Arial"/>
                <a:ea typeface="Arial"/>
                <a:cs typeface="Arial"/>
              </a:rPr>
              <a:t>Movement Primitive</a:t>
            </a:r>
            <a:endParaRPr/>
          </a:p>
          <a:p>
            <a:pPr>
              <a:buNone/>
              <a:defRPr sz="4000">
                <a:solidFill>
                  <a:srgbClr val="E0D5C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E0D5C0"/>
                </a:solidFill>
                <a:latin typeface="Arial"/>
                <a:ea typeface="Arial"/>
                <a:cs typeface="Arial"/>
              </a:rPr>
              <a:t>Diffusion</a:t>
            </a:r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6BEDF2B-E15D-4E0F-8CBB-376A664C6A68}"/>
              </a:ext>
            </a:extLst>
          </p:cNvPr>
          <p:cNvSpPr>
            <a:spLocks noGrp="1"/>
          </p:cNvSpPr>
          <p:nvPr/>
        </p:nvSpPr>
        <p:spPr>
          <a:xfrm>
            <a:off x="628650" y="429577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Gentle Robotic Manipulation</a:t>
            </a:r>
          </a:p>
          <a:p>
            <a:pPr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Deformable Objects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B3A0BDC-9E39-4DE1-9F34-082539125C22}"/>
              </a:ext>
            </a:extLst>
          </p:cNvPr>
          <p:cNvSpPr>
            <a:spLocks noGrp="1"/>
          </p:cNvSpPr>
          <p:nvPr/>
        </p:nvSpPr>
        <p:spPr>
          <a:xfrm>
            <a:off x="628650" y="5838825"/>
            <a:ext cx="5048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Intelligent Surgical Robotics</a:t>
            </a:r>
          </a:p>
          <a:p>
            <a:pPr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Scheikl et al.  •  IEEE RA-L, 2024</a:t>
            </a:r>
          </a:p>
        </p:txBody>
      </p:sp>
      <p:sp>
        <p:nvSpPr>
          <p:cNvPr id="8" name="presenter">
            <a:extLst>
              <a:ext uri="{FF2B5EF4-FFF2-40B4-BE49-F238E27FC236}">
                <a16:creationId xmlns:a16="http://schemas.microsoft.com/office/drawing/2014/main" id="{5A13C741-4853-4E1A-85D4-1D1F10705C20}"/>
              </a:ext>
            </a:extLst>
          </p:cNvPr>
          <p:cNvSpPr>
            <a:spLocks noGrp="1"/>
          </p:cNvSpPr>
          <p:nvPr/>
        </p:nvSpPr>
        <p:spPr>
          <a:xfrm>
            <a:off x="630936" y="537210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Blaine Swieder</a:t>
            </a:r>
          </a:p>
        </p:txBody>
      </p:sp>
    </p:spTree>
    <p:extLst>
      <p:ext uri="{BB962C8B-B14F-4D97-AF65-F5344CB8AC3E}">
        <p14:creationId xmlns:p14="http://schemas.microsoft.com/office/powerpoint/2010/main" val="230617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0065EB07-43C2-45D2-82A4-A354D7433B05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Motivation and Course Context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E9F89B84-5438-4B8E-902F-A2CE2CEE1441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C3D130-EA0C-4B71-8A79-7EAC8D894A35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F3AB7F13-0AC4-4D7D-89BB-031A36CAB594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4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Task success alone leaves out how the robot moves.</a:t>
            </a:r>
          </a:p>
          <a:p>
            <a:pPr marL="279400" indent="-165100" algn="l">
              <a:spcAft>
                <a:spcPts val="24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Deformable tissue makes abrupt motion a concern.</a:t>
            </a:r>
          </a:p>
          <a:p>
            <a:pPr marL="279400" indent="-165100" algn="l">
              <a:spcAft>
                <a:spcPts val="24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Human demonstrations contain different valid strategies.</a:t>
            </a:r>
          </a:p>
          <a:p>
            <a:pPr marL="279400" indent="-165100" algn="l">
              <a:spcAft>
                <a:spcPts val="24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Surgical demonstrations are costly to collect.</a:t>
            </a:r>
          </a:p>
          <a:p>
            <a:pPr marL="279400" indent="-165100" algn="l">
              <a:spcAft>
                <a:spcPts val="24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Course connection: MPD turns learned behavior into structured robot motion.</a:t>
            </a:r>
          </a:p>
        </p:txBody>
      </p:sp>
    </p:spTree>
    <p:extLst>
      <p:ext uri="{BB962C8B-B14F-4D97-AF65-F5344CB8AC3E}">
        <p14:creationId xmlns:p14="http://schemas.microsoft.com/office/powerpoint/2010/main" val="131975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A08D9816-E6C8-4785-AE81-D37910702D1D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Overview of Movement Primitive Diffusion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F7A48B5E-C115-4058-B6A1-3256A2EF2A8D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F541D84-0AA7-44D5-B1E9-C1082BDD8539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3C62FF86-B8D3-4E7D-A5A8-F9C1128D5BE5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Diffusion represents several possible motion strategies.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ProDMPs structure the generated motion across time.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combines both in one imitation-learning method.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evaluation covers success, motion quality, and data efficiency.</a:t>
            </a:r>
          </a:p>
        </p:txBody>
      </p:sp>
    </p:spTree>
    <p:extLst>
      <p:ext uri="{BB962C8B-B14F-4D97-AF65-F5344CB8AC3E}">
        <p14:creationId xmlns:p14="http://schemas.microsoft.com/office/powerpoint/2010/main" val="208053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AA6F8059-B35C-4BA4-8BE8-512103BB920C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DA06D26A-4A13-41FC-B052-BD0BD965F1F1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CF46805-E981-4F01-BEAC-CDDB72C1839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formulation">
            <a:extLst>
              <a:ext uri="{FF2B5EF4-FFF2-40B4-BE49-F238E27FC236}">
                <a16:creationId xmlns:a16="http://schemas.microsoft.com/office/drawing/2014/main" id="{644E5E87-4A41-467C-8F5B-0E836D712B8D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101917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2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o = recent observations       τ = future action sequence</a:t>
            </a:r>
          </a:p>
        </p:txBody>
      </p:sp>
      <p:sp>
        <p:nvSpPr>
          <p:cNvPr id="5" name="body-bullets">
            <a:extLst>
              <a:ext uri="{FF2B5EF4-FFF2-40B4-BE49-F238E27FC236}">
                <a16:creationId xmlns:a16="http://schemas.microsoft.com/office/drawing/2014/main" id="{CA8BA805-FD63-4254-BE45-91292EA8B060}"/>
              </a:ext>
            </a:extLst>
          </p:cNvPr>
          <p:cNvSpPr>
            <a:spLocks noGrp="1"/>
          </p:cNvSpPr>
          <p:nvPr/>
        </p:nvSpPr>
        <p:spPr>
          <a:xfrm>
            <a:off x="495300" y="2800350"/>
            <a:ext cx="110490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19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Each action contains desired values in a task-specific space.</a:t>
            </a:r>
          </a:p>
          <a:p>
            <a:pPr marL="279400" indent="-165100" algn="l">
              <a:spcAft>
                <a:spcPts val="19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Demonstrations pair observations with instrument motion.</a:t>
            </a:r>
          </a:p>
          <a:p>
            <a:pPr marL="279400" indent="-165100" algn="l">
              <a:spcAft>
                <a:spcPts val="19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Training uses shorter windows from complete demonstrations.</a:t>
            </a:r>
          </a:p>
          <a:p>
            <a:pPr marL="279400" indent="-165100" algn="l">
              <a:spcAft>
                <a:spcPts val="19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A sequence retains temporal context while allowing later adaptation.</a:t>
            </a:r>
          </a:p>
        </p:txBody>
      </p:sp>
    </p:spTree>
    <p:extLst>
      <p:ext uri="{BB962C8B-B14F-4D97-AF65-F5344CB8AC3E}">
        <p14:creationId xmlns:p14="http://schemas.microsoft.com/office/powerpoint/2010/main" val="93397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6FE4409C-5950-41EC-A34B-0E0AAA7D63D4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Why MPD Uses Diffusion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A95828F2-C48B-46E8-AE56-6ADBEB34C052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804A0973-E36B-46CE-B8E4-728F95D5502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31A33EA4-4298-401F-9577-51DE546567D9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Several valid strategies can correspond to one observation.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A point-by-point average may create an unsuitable strategy.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Diffusion samples a possible sequence from a learned distribution.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learns to denoise action sequences conditioned on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29820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7BF026D3-FEF7-4FB4-84E7-CCF1FF394803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MPD’s Movement-Primitive Decoder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712ECC7C-3B26-4330-8552-9E72A44DEB6E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01766D5-C498-4503-BEF3-393EDAD9674A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9" name="typeset-position" descr="y(t) = c₁ y₁(t) + c₂ y₂(t) + Φ(t)ᵀ w">
            <a:extLst>
              <a:ext uri="{FF2B5EF4-FFF2-40B4-BE49-F238E27FC236}">
                <a16:creationId xmlns:a16="http://schemas.microsoft.com/office/drawing/2014/main" id="{BAFFD7A4-3DC1-476F-AF76-02110EED6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82919" y="1771650"/>
            <a:ext cx="7026162" cy="619125"/>
          </a:xfrm>
          <a:prstGeom prst="rect">
            <a:avLst/>
          </a:prstGeom>
        </p:spPr>
      </p:pic>
      <p:pic>
        <p:nvPicPr>
          <p:cNvPr id="10" name="typeset-velocity" descr="ẏ(t) = c₁ ẏ₁(t) + c₂ ẏ₂(t) + Φ̇(t)ᵀ w">
            <a:extLst>
              <a:ext uri="{FF2B5EF4-FFF2-40B4-BE49-F238E27FC236}">
                <a16:creationId xmlns:a16="http://schemas.microsoft.com/office/drawing/2014/main" id="{02C48066-2611-4CDD-8939-201F8F3C6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619319" y="2514600"/>
            <a:ext cx="6953362" cy="619125"/>
          </a:xfrm>
          <a:prstGeom prst="rect">
            <a:avLst/>
          </a:prstGeom>
        </p:spPr>
      </p:pic>
      <p:sp>
        <p:nvSpPr>
          <p:cNvPr id="6" name="body-bullets">
            <a:extLst>
              <a:ext uri="{FF2B5EF4-FFF2-40B4-BE49-F238E27FC236}">
                <a16:creationId xmlns:a16="http://schemas.microsoft.com/office/drawing/2014/main" id="{A57A1634-DEFA-4FB2-B7F5-51F48F990B86}"/>
              </a:ext>
            </a:extLst>
          </p:cNvPr>
          <p:cNvSpPr>
            <a:spLocks noGrp="1"/>
          </p:cNvSpPr>
          <p:nvPr/>
        </p:nvSpPr>
        <p:spPr>
          <a:xfrm>
            <a:off x="495300" y="3648075"/>
            <a:ext cx="11049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w shapes the trajectory through fixed basis functions.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boundary terms set the starting position and velocity.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model supports position and velocity along the same motion.</a:t>
            </a:r>
          </a:p>
        </p:txBody>
      </p:sp>
      <p:sp>
        <p:nvSpPr>
          <p:cNvPr id="8" name="trajectory-time-definition">
            <a:extLst>
              <a:ext uri="{FF2B5EF4-FFF2-40B4-BE49-F238E27FC236}">
                <a16:creationId xmlns:a16="http://schemas.microsoft.com/office/drawing/2014/main" id="{09952A09-3E1E-4729-A715-4E63C9290AE4}"/>
              </a:ext>
            </a:extLst>
          </p:cNvPr>
          <p:cNvSpPr>
            <a:spLocks noGrp="1"/>
          </p:cNvSpPr>
          <p:nvPr/>
        </p:nvSpPr>
        <p:spPr>
          <a:xfrm>
            <a:off x="523875" y="5800725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Here, t is time along the generated movement.</a:t>
            </a:r>
          </a:p>
        </p:txBody>
      </p:sp>
    </p:spTree>
    <p:extLst>
      <p:ext uri="{BB962C8B-B14F-4D97-AF65-F5344CB8AC3E}">
        <p14:creationId xmlns:p14="http://schemas.microsoft.com/office/powerpoint/2010/main" val="127132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C925B151-1770-4C9D-8FE9-1E825CDA306F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Initial Conditions and Continuity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27DC88F3-0A7D-473A-8FB5-C07F928FFA61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4A65651-93F8-43A2-9170-B19D95B08A48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79B0B853-17CD-4A82-BE58-DDD7727F2252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A new segment can start from a specified position and velocity.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Matching both helps connect consecutive reference motions.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reference construction supplies temporal consistency.</a:t>
            </a:r>
          </a:p>
          <a:p>
            <a:pPr marL="279400" indent="-165100" algn="l">
              <a:spcAft>
                <a:spcPts val="2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Feedback control still determines how the physical robot follows it.</a:t>
            </a:r>
          </a:p>
        </p:txBody>
      </p:sp>
    </p:spTree>
    <p:extLst>
      <p:ext uri="{BB962C8B-B14F-4D97-AF65-F5344CB8AC3E}">
        <p14:creationId xmlns:p14="http://schemas.microsoft.com/office/powerpoint/2010/main" val="133284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92F89C7-B0B7-4288-BC32-63B3AEE88868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MPD’s Probability-Flow ODE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5096D149-318F-4425-9E1F-7863F7C9640B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72A783D-9E60-447F-AF0A-91DE1DA70108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8" name="typeset-diffusion" descr="dτ/dt ≈ [τ − Dθ(τ, o, t)] / t">
            <a:extLst>
              <a:ext uri="{FF2B5EF4-FFF2-40B4-BE49-F238E27FC236}">
                <a16:creationId xmlns:a16="http://schemas.microsoft.com/office/drawing/2014/main" id="{94BC68CA-7581-4420-A7CD-21ECB6E560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49541" y="1619250"/>
            <a:ext cx="4492919" cy="1095375"/>
          </a:xfrm>
          <a:prstGeom prst="rect">
            <a:avLst/>
          </a:prstGeom>
        </p:spPr>
      </p:pic>
      <p:sp>
        <p:nvSpPr>
          <p:cNvPr id="5" name="body-bullets">
            <a:extLst>
              <a:ext uri="{FF2B5EF4-FFF2-40B4-BE49-F238E27FC236}">
                <a16:creationId xmlns:a16="http://schemas.microsoft.com/office/drawing/2014/main" id="{BD356F90-C1F9-4FA4-AC40-02EE7F03ACEE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11049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i="1"/>
              <a:t>D</a:t>
            </a:r>
            <a:r>
              <a:rPr i="1" baseline="-25000"/>
              <a:t>θ</a:t>
            </a:r>
            <a:r>
              <a:t> estimates a denoised sequence under the observation o.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solver iteratively updates the noisy action sequence.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Diffusion time differs from time along the robot trajectory.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This ODE describes generation, rather than tissue dynamics.</a:t>
            </a:r>
          </a:p>
        </p:txBody>
      </p:sp>
      <p:sp>
        <p:nvSpPr>
          <p:cNvPr id="7" name="diffusion-time-definition">
            <a:extLst>
              <a:ext uri="{FF2B5EF4-FFF2-40B4-BE49-F238E27FC236}">
                <a16:creationId xmlns:a16="http://schemas.microsoft.com/office/drawing/2014/main" id="{1EB24475-058B-481F-B653-1119942091F1}"/>
              </a:ext>
            </a:extLst>
          </p:cNvPr>
          <p:cNvSpPr>
            <a:spLocks noGrp="1"/>
          </p:cNvSpPr>
          <p:nvPr/>
        </p:nvSpPr>
        <p:spPr>
          <a:xfrm>
            <a:off x="523875" y="58102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Here, t is diffusion time, tied to the noise level.</a:t>
            </a:r>
          </a:p>
        </p:txBody>
      </p:sp>
    </p:spTree>
    <p:extLst>
      <p:ext uri="{BB962C8B-B14F-4D97-AF65-F5344CB8AC3E}">
        <p14:creationId xmlns:p14="http://schemas.microsoft.com/office/powerpoint/2010/main" val="93122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EC773B29-342D-4B27-B5FE-A75A2F046BA2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Connection to Neural ODEs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B5FFA2D9-C7FE-42C7-992C-1C332E328299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32BB357-9951-483B-A21E-F23EBBB11F49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204D00-2F6B-4745-8BB0-F352C0D64F03}"/>
              </a:ext>
            </a:extLst>
          </p:cNvPr>
          <p:cNvGraphicFramePr/>
          <p:nvPr/>
        </p:nvGraphicFramePr>
        <p:xfrm>
          <a:off x="523875" y="1762125"/>
          <a:ext cx="11049000" cy="34766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Neural ODE (my demo)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Movement Primitive Diffusion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Learned function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State derivative </a:t>
                      </a:r>
                      <a:r>
                        <a:rPr sz="1800" b="0" i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1800" b="0" i="1" baseline="-2500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(x, u, t)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Denoiser </a:t>
                      </a:r>
                      <a:r>
                        <a:rPr sz="1800" b="0" i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1800" b="0" i="1" baseline="-2500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 with a ProDMP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Integrated quantity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System state x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Noisy action sequence τ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Integration coordinate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Physical system time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Diffusion time / noise level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Predict the system response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Generate a future motion reference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nnection-interpretation">
            <a:extLst>
              <a:ext uri="{FF2B5EF4-FFF2-40B4-BE49-F238E27FC236}">
                <a16:creationId xmlns:a16="http://schemas.microsoft.com/office/drawing/2014/main" id="{C1F34DBA-1935-4B4C-8901-F6A8646547F6}"/>
              </a:ext>
            </a:extLst>
          </p:cNvPr>
          <p:cNvSpPr>
            <a:spLocks noGrp="1"/>
          </p:cNvSpPr>
          <p:nvPr/>
        </p:nvSpPr>
        <p:spPr>
          <a:xfrm>
            <a:off x="523875" y="555307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The common idea is learning with continuous functions and an ODE solver.</a:t>
            </a:r>
          </a:p>
          <a:p>
            <a: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MPD applies that idea to generating a motion sample.</a:t>
            </a:r>
          </a:p>
        </p:txBody>
      </p:sp>
    </p:spTree>
    <p:extLst>
      <p:ext uri="{BB962C8B-B14F-4D97-AF65-F5344CB8AC3E}">
        <p14:creationId xmlns:p14="http://schemas.microsoft.com/office/powerpoint/2010/main" val="547795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7ACAA7F7-885B-4BBC-984A-1D9A50781007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The MPD Architecture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1C617213-C1A8-4BB9-B51B-222F27491471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C7E1D7E-32D1-47DE-8553-5BBC32BBD4D5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9821F4D9-22B7-45DA-9A98-C1207BF40CAC}"/>
              </a:ext>
            </a:extLst>
          </p:cNvPr>
          <p:cNvSpPr>
            <a:spLocks noGrp="1"/>
          </p:cNvSpPr>
          <p:nvPr/>
        </p:nvSpPr>
        <p:spPr>
          <a:xfrm>
            <a:off x="450533" y="1714500"/>
            <a:ext cx="5762625" cy="438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3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Condition the network on the observation and noisy sequence.</a:t>
            </a:r>
          </a:p>
          <a:p>
            <a:pPr marL="279400" indent="-165100" algn="l">
              <a:spcAft>
                <a:spcPts val="23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Predict a movement-primitive weight vector.</a:t>
            </a:r>
          </a:p>
          <a:p>
            <a:pPr marL="279400" indent="-165100" algn="l">
              <a:spcAft>
                <a:spcPts val="23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Decode weights with the initial position and velocity.</a:t>
            </a:r>
          </a:p>
          <a:p>
            <a:pPr marL="279400" indent="-165100" algn="l">
              <a:spcAft>
                <a:spcPts val="23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Use the ODE solver to continue denoising.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BEA2E-A60D-49C1-84A6-45B711029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74351" y="1562100"/>
            <a:ext cx="4786923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30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ACA64F7B-58B7-4D59-86A6-C070F6F215EB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Notation in the MPD Architecture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625D0E45-D538-44A5-96AD-2F53740136F3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0607241-8961-4B56-908A-AC8C909CE9C3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529FC8-A518-4540-9F3B-D1769ECDAEC2}"/>
              </a:ext>
            </a:extLst>
          </p:cNvPr>
          <p:cNvGraphicFramePr/>
          <p:nvPr/>
        </p:nvGraphicFramePr>
        <p:xfrm>
          <a:off x="523875" y="1666875"/>
          <a:ext cx="11049000" cy="42862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Symbol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this paper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Recent observations: task state or RGB images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Action sequence, noisy candidate, and final denoised sequence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t, k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Diffusion time / noise level, and denoising iteration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 i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1800" b="0" i="1" baseline="-2500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Inner neural network that predicts primitive coefficients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Movement-primitive coefficients for the current motion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ProDMP decoder that turns coefficients into a trajectory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s₀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Starting position and velocity for the motion segment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800" b="0" i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1800" b="0" i="1" baseline="-2500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Overall learned denoiser used by the probability-flow ODE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typeset-sequence_symbols" descr="τ, τ̃ᵏ, τ⁰">
            <a:extLst>
              <a:ext uri="{FF2B5EF4-FFF2-40B4-BE49-F238E27FC236}">
                <a16:creationId xmlns:a16="http://schemas.microsoft.com/office/drawing/2014/main" id="{38872908-0AEA-49CE-8443-7A5BFCD07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19125" y="2709560"/>
            <a:ext cx="914400" cy="24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8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3BF54E0C-B8C8-4207-92AF-ECBA76CFB6A0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Diffusion in Action-Sequence Space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2479FF48-0519-49D0-9273-9A53AAD0B3C5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136C66F-0AD2-4049-A8DB-C627A254CC08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56F7C14A-1F78-4974-AD2B-E4CD2389CA90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inner network predicts weights for a ProDMP.</a:t>
            </a:r>
          </a:p>
          <a:p>
            <a:pPr marL="279400" indent="-165100" algn="l">
              <a:spcAft>
                <a:spcPts val="2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decoder returns trajectory values during each update.</a:t>
            </a:r>
          </a:p>
          <a:p>
            <a:pPr marL="279400" indent="-165100" algn="l">
              <a:spcAft>
                <a:spcPts val="2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diffuses in action-sequence space.</a:t>
            </a:r>
          </a:p>
          <a:p>
            <a:pPr marL="279400" indent="-165100" algn="l">
              <a:spcAft>
                <a:spcPts val="2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authors report worse preliminary results for weight-space diffusion.</a:t>
            </a:r>
          </a:p>
        </p:txBody>
      </p:sp>
    </p:spTree>
    <p:extLst>
      <p:ext uri="{BB962C8B-B14F-4D97-AF65-F5344CB8AC3E}">
        <p14:creationId xmlns:p14="http://schemas.microsoft.com/office/powerpoint/2010/main" val="45189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B80116D4-2414-48A5-A2D5-874CE7027292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Training MPD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D6323F28-EA7E-45E1-A3FB-CAC82CC46B6D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EF4E147-1C59-4505-A40A-9F8408D0591C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DFCE54E3-7473-40F0-A7E5-C9BF23AAB904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6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Extract observation and action windows from demonstrations.</a:t>
            </a:r>
          </a:p>
          <a:p>
            <a:pPr marL="279400" indent="-165100" algn="l">
              <a:spcAft>
                <a:spcPts val="26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Sample a noise level and corrupt the demonstrated action sequence.</a:t>
            </a:r>
          </a:p>
          <a:p>
            <a:pPr marL="279400" indent="-165100" algn="l">
              <a:spcAft>
                <a:spcPts val="26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Predict primitive weights and decode a reconstructed sequence.</a:t>
            </a:r>
          </a:p>
          <a:p>
            <a:pPr marL="279400" indent="-165100" algn="l">
              <a:spcAft>
                <a:spcPts val="26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Optimize the denoising objective against the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720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F22A98CF-CBF4-43EB-974F-B61DC1AA496E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Execution and Sampling Rates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87E1E6DF-0F89-4EAB-9C82-2ABDDD5305AE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A2F3662-0842-4AE2-B73F-82D0E699ACCA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3ABC21-B83E-4E53-94DC-30AFFEA4DB85}"/>
              </a:ext>
            </a:extLst>
          </p:cNvPr>
          <p:cNvGraphicFramePr/>
          <p:nvPr/>
        </p:nvGraphicFramePr>
        <p:xfrm>
          <a:off x="523875" y="1809750"/>
          <a:ext cx="11049000" cy="33337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setting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Observation history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3 samples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Predicted action sequence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12 steps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Observation / action spacing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0.1 s (10 Hz)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Physical reference spacing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0.005 s (200 Hz)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ProDMP basis functions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16821D5A-4C25-48BF-975B-4156D2530FAE}"/>
              </a:ext>
            </a:extLst>
          </p:cNvPr>
          <p:cNvSpPr>
            <a:spLocks noGrp="1"/>
          </p:cNvSpPr>
          <p:nvPr/>
        </p:nvSpPr>
        <p:spPr>
          <a:xfrm>
            <a:off x="523875" y="5429250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Reference sampling and policy inference describe different rates.</a:t>
            </a:r>
          </a:p>
        </p:txBody>
      </p:sp>
    </p:spTree>
    <p:extLst>
      <p:ext uri="{BB962C8B-B14F-4D97-AF65-F5344CB8AC3E}">
        <p14:creationId xmlns:p14="http://schemas.microsoft.com/office/powerpoint/2010/main" val="181477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452ABF4-AEAF-46D5-A833-E3513929B080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Tasks Used in the Evaluation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89D90BB2-FFB9-4E8C-B07C-23C7E2CACEB5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B04510C-F881-413C-B245-C9D078DDA24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C267B3B5-2D59-4E7E-A4CB-F9BD99C3AE57}"/>
              </a:ext>
            </a:extLst>
          </p:cNvPr>
          <p:cNvSpPr>
            <a:spLocks noGrp="1"/>
          </p:cNvSpPr>
          <p:nvPr/>
        </p:nvSpPr>
        <p:spPr>
          <a:xfrm>
            <a:off x="450533" y="1714500"/>
            <a:ext cx="5476875" cy="438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Grasp Lift Touch: sequential bimanual coordination.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Rope Threading: navigation through an eyelet.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Bimanual Tissue Manipulation: coordinated deformation.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Ligating Loop: positioning a flexible loop.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F7CE6-5810-48D7-AEDF-A321C6080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2745" y="1581150"/>
            <a:ext cx="533581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88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7D625ED-45C2-4DC1-B3C6-42644C7A7F6C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Physical Experiments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028D761D-F13A-477D-B931-3CEE4AF7B1F0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9F54D80-9A71-42EC-95E6-0EEE1212AF1A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96614-ED1D-46D5-BA93-BF8B796D3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65105" y="1666875"/>
            <a:ext cx="8061790" cy="2238375"/>
          </a:xfrm>
          <a:prstGeom prst="rect">
            <a:avLst/>
          </a:prstGeom>
        </p:spPr>
      </p:pic>
      <p:sp>
        <p:nvSpPr>
          <p:cNvPr id="5" name="body-bullets">
            <a:extLst>
              <a:ext uri="{FF2B5EF4-FFF2-40B4-BE49-F238E27FC236}">
                <a16:creationId xmlns:a16="http://schemas.microsoft.com/office/drawing/2014/main" id="{29050EA5-AD25-4ECF-B18B-AF73A4DED70C}"/>
              </a:ext>
            </a:extLst>
          </p:cNvPr>
          <p:cNvSpPr>
            <a:spLocks noGrp="1"/>
          </p:cNvSpPr>
          <p:nvPr/>
        </p:nvSpPr>
        <p:spPr>
          <a:xfrm>
            <a:off x="495300" y="4181475"/>
            <a:ext cx="11049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1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xArm7 manipulators use laparoscopic instruments and RGB images.</a:t>
            </a:r>
          </a:p>
          <a:p>
            <a:pPr marL="279400" indent="-165100" algn="l">
              <a:spcAft>
                <a:spcPts val="1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Cloth and phantoms represent the deformable objects.</a:t>
            </a:r>
          </a:p>
          <a:p>
            <a:pPr marL="279400" indent="-165100" algn="l">
              <a:spcAft>
                <a:spcPts val="15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physical Ligating Loop task omits constriction.</a:t>
            </a:r>
          </a:p>
        </p:txBody>
      </p:sp>
    </p:spTree>
    <p:extLst>
      <p:ext uri="{BB962C8B-B14F-4D97-AF65-F5344CB8AC3E}">
        <p14:creationId xmlns:p14="http://schemas.microsoft.com/office/powerpoint/2010/main" val="52318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0FCD43B9-30CF-4AF8-98F1-CFFABE9123D8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Data and Evaluation Protocol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C00F3CB2-9FE6-4157-9E03-B9FFCDDCE97F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4BDA703-A6F0-44B0-9649-94F97E881A17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0F3C5C-2066-4D14-9B00-CB52F948776A}"/>
              </a:ext>
            </a:extLst>
          </p:cNvPr>
          <p:cNvGraphicFramePr/>
          <p:nvPr/>
        </p:nvGraphicFramePr>
        <p:xfrm>
          <a:off x="523875" y="1809750"/>
          <a:ext cx="11049000" cy="3000375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Simulation demos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Physical demos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Grasp Lift Touch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Rope Threading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Bimanual Tissue Manipulation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Ligating Loop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E4D441EB-80AF-4B15-ADFF-D6B0798BED67}"/>
              </a:ext>
            </a:extLst>
          </p:cNvPr>
          <p:cNvSpPr>
            <a:spLocks noGrp="1"/>
          </p:cNvSpPr>
          <p:nvPr/>
        </p:nvSpPr>
        <p:spPr>
          <a:xfrm>
            <a:off x="523875" y="52292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One demonstrator. Five simulation seeds. Fifty physical test runs per model.</a:t>
            </a:r>
          </a:p>
        </p:txBody>
      </p:sp>
    </p:spTree>
    <p:extLst>
      <p:ext uri="{BB962C8B-B14F-4D97-AF65-F5344CB8AC3E}">
        <p14:creationId xmlns:p14="http://schemas.microsoft.com/office/powerpoint/2010/main" val="1895535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9E142297-7DFB-4225-82AD-367B9EFAA24B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Baselines Used to Evaluate MPD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D17BE331-E6CD-4C6D-99B3-BC6947F37FAE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AB8D57-77C7-4079-995F-54C4042D65F0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57047F-D949-4585-825B-2F8B4CF36C91}"/>
              </a:ext>
            </a:extLst>
          </p:cNvPr>
          <p:cNvGraphicFramePr/>
          <p:nvPr/>
        </p:nvGraphicFramePr>
        <p:xfrm>
          <a:off x="523875" y="1809750"/>
          <a:ext cx="11049000" cy="31432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Diffusion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Network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Motion representation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BESO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Score-based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Sequence denoising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DP-T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DDPM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Sequence denoising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DP-C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DDPM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Temporal CNN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Sequence denoising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MPD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Score-based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ProDMP inside the denoiser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031F41D2-840A-449C-9539-74504C740A6B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The comparisons change more than one architectural choice.</a:t>
            </a:r>
          </a:p>
        </p:txBody>
      </p:sp>
    </p:spTree>
    <p:extLst>
      <p:ext uri="{BB962C8B-B14F-4D97-AF65-F5344CB8AC3E}">
        <p14:creationId xmlns:p14="http://schemas.microsoft.com/office/powerpoint/2010/main" val="111910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13A1D51C-4A56-4E70-B45B-0833D074C8A4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Motion-Quality Metrics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2079900A-76E9-473A-B124-F66874305E44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FEEF711-BA4B-4FA1-9855-22FEAE602CF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2FFB25-EE46-4533-8134-444A6B839925}"/>
              </a:ext>
            </a:extLst>
          </p:cNvPr>
          <p:cNvGraphicFramePr/>
          <p:nvPr/>
        </p:nvGraphicFramePr>
        <p:xfrm>
          <a:off x="523875" y="1809750"/>
          <a:ext cx="11049000" cy="34290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this study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Tissue / marker acceleration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How strongly the manipulated object accelerates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Instrument jerk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How abruptly instrument acceleration changes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Instrument “energy”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An acceleration-sum motion proxy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Path length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Total distance travelled by the instrument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Episode length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Time required to finish the task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CCAD26FF-7DF2-4BAF-8FD8-A3F26FDC232E}"/>
              </a:ext>
            </a:extLst>
          </p:cNvPr>
          <p:cNvSpPr>
            <a:spLocks noGrp="1"/>
          </p:cNvSpPr>
          <p:nvPr/>
        </p:nvSpPr>
        <p:spPr>
          <a:xfrm>
            <a:off x="523875" y="55340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These motion metrics complement the task-success rate.</a:t>
            </a:r>
          </a:p>
        </p:txBody>
      </p:sp>
    </p:spTree>
    <p:extLst>
      <p:ext uri="{BB962C8B-B14F-4D97-AF65-F5344CB8AC3E}">
        <p14:creationId xmlns:p14="http://schemas.microsoft.com/office/powerpoint/2010/main" val="1157786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CBA02897-60F5-457A-9FB2-DA7C14ED180D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Results with State Observations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38B2AFC9-4C78-4DAB-A9AB-8E834A7334C5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AD2F0BD-B664-4BD3-898E-392DA8BF509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FEE305-7AA9-4B9E-9BD0-218F84651BA9}"/>
              </a:ext>
            </a:extLst>
          </p:cNvPr>
          <p:cNvGraphicFramePr/>
          <p:nvPr/>
        </p:nvGraphicFramePr>
        <p:xfrm>
          <a:off x="523875" y="1809750"/>
          <a:ext cx="11049000" cy="3143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BTM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LL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BESO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68.4 (6.8)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90.4 (1.2)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88.2 (3.9)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83.2 (4.8)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82.55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DP-T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89.6 (1.9)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98.4 (0.5)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97.00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DP-C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82.0 (2.3)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93.2 (1.9)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93.80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MPD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99.2 (0.7)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93.8 (1.2)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99.0 (0.6)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99.6 (0.5)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97.90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6871455C-1416-48D4-9A9D-68EED9E56FF5}"/>
              </a:ext>
            </a:extLst>
          </p:cNvPr>
          <p:cNvSpPr>
            <a:spLocks noGrp="1"/>
          </p:cNvSpPr>
          <p:nvPr/>
        </p:nvSpPr>
        <p:spPr>
          <a:xfrm>
            <a:off x="523875" y="52673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Success (%), mean (SD). MPD leads the average by 0.90 percentage points over DP-T.</a:t>
            </a:r>
          </a:p>
        </p:txBody>
      </p:sp>
    </p:spTree>
    <p:extLst>
      <p:ext uri="{BB962C8B-B14F-4D97-AF65-F5344CB8AC3E}">
        <p14:creationId xmlns:p14="http://schemas.microsoft.com/office/powerpoint/2010/main" val="2031078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A34488E2-D525-4123-9F9F-27D96C0EC0C4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Results with Image Observations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734E155B-4991-4F6A-9F45-C4343E95B846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7BAE8DE-907A-4E53-8C19-2CE4E31B02DC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ACE61A-4D2D-4900-99F0-0B53DD5D183F}"/>
              </a:ext>
            </a:extLst>
          </p:cNvPr>
          <p:cNvGraphicFramePr/>
          <p:nvPr/>
        </p:nvGraphicFramePr>
        <p:xfrm>
          <a:off x="523875" y="1809750"/>
          <a:ext cx="11049000" cy="3143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RT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BTM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LL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BESO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99.8 (0.4)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66.8 (2.3)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91.4 (2.4)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99.8 (0.4)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89.45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DP-T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76.6 (4.5)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95.8 (0.7)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99.8 (0.4)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93.05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DP-C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83.2 (1.2)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85.2 (1.3)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92.15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MPD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78.6 (3.4)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99.0 (1.1)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 (0.0)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94.40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E0D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0DFFED16-2F1E-4DF6-82D6-39D563E4EFBA}"/>
              </a:ext>
            </a:extLst>
          </p:cNvPr>
          <p:cNvSpPr>
            <a:spLocks noGrp="1"/>
          </p:cNvSpPr>
          <p:nvPr/>
        </p:nvSpPr>
        <p:spPr>
          <a:xfrm>
            <a:off x="523875" y="52673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MPD leads the average, while DP-C performs best on image-based Rope Threading.</a:t>
            </a:r>
          </a:p>
        </p:txBody>
      </p:sp>
    </p:spTree>
    <p:extLst>
      <p:ext uri="{BB962C8B-B14F-4D97-AF65-F5344CB8AC3E}">
        <p14:creationId xmlns:p14="http://schemas.microsoft.com/office/powerpoint/2010/main" val="683991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2F2817C9-A1C2-40D4-BBEE-8F1C2603C1D2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Results on the Physical Robots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0B68CF4B-31A0-43EB-B531-9D9F0F4A3EA3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71562A1-89B3-454F-A7B0-B665170592A3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469245-86F6-4F27-A35F-51DC3BB46FD7}"/>
              </a:ext>
            </a:extLst>
          </p:cNvPr>
          <p:cNvGraphicFramePr/>
          <p:nvPr/>
        </p:nvGraphicFramePr>
        <p:xfrm>
          <a:off x="523875" y="1809750"/>
          <a:ext cx="11049000" cy="3143250"/>
        </p:xfrm>
        <a:graphic>
          <a:graphicData uri="http://schemas.openxmlformats.org/drawingml/2006/table">
            <a:tbl>
              <a:tblPr/>
              <a:tblGrid>
                <a:gridCol w="742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 / condition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MPD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DP-C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>
                      <a:solidFill>
                        <a:srgbClr val="CFC8BA"/>
                      </a:solidFill>
                      <a:prstDash val="soli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BTM (2 mm threshold, state input)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Grasp Lift Touch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Rope Threading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96%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Ligating Loop (simplified)</a:t>
                      </a:r>
                    </a:p>
                  </a:txBody>
                  <a:tcPr>
                    <a:lnL w="7620">
                      <a:solidFill>
                        <a:srgbClr val="CFC8BA"/>
                      </a:solidFill>
                      <a:prstDash val="soli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FC8BA"/>
                      </a:solidFill>
                      <a:prstDash val="solid"/>
                    </a:lnR>
                    <a:lnT w="7620" cap="flat" cmpd="sng" algn="ctr">
                      <a:solidFill>
                        <a:srgbClr val="CFC8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FC8BA"/>
                      </a:solidFill>
                      <a:prstDash val="soli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terpretation">
            <a:extLst>
              <a:ext uri="{FF2B5EF4-FFF2-40B4-BE49-F238E27FC236}">
                <a16:creationId xmlns:a16="http://schemas.microsoft.com/office/drawing/2014/main" id="{5501DE79-1496-4FBA-A436-7136D6F0E2D0}"/>
              </a:ext>
            </a:extLst>
          </p:cNvPr>
          <p:cNvSpPr>
            <a:spLocks noGrp="1"/>
          </p:cNvSpPr>
          <p:nvPr/>
        </p:nvSpPr>
        <p:spPr>
          <a:xfrm>
            <a:off x="523875" y="5314950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Fifty executions per evaluated model. Hardware comparison: MPD and DP-C.</a:t>
            </a:r>
          </a:p>
        </p:txBody>
      </p:sp>
    </p:spTree>
    <p:extLst>
      <p:ext uri="{BB962C8B-B14F-4D97-AF65-F5344CB8AC3E}">
        <p14:creationId xmlns:p14="http://schemas.microsoft.com/office/powerpoint/2010/main" val="168484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C917EB48-22BA-4A36-BFBB-0F65D71715D0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Accuracy Threshold and Task Success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1EE696FB-AC04-44D1-9807-B53D563741C0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E9922A7-790E-48C3-AB75-597259B34ED5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5D6EF-33D6-4507-8EF7-BD914B4B9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1709" y="1524000"/>
            <a:ext cx="7288582" cy="3619500"/>
          </a:xfrm>
          <a:prstGeom prst="rect">
            <a:avLst/>
          </a:prstGeom>
        </p:spPr>
      </p:pic>
      <p:sp>
        <p:nvSpPr>
          <p:cNvPr id="5" name="body-bullets">
            <a:extLst>
              <a:ext uri="{FF2B5EF4-FFF2-40B4-BE49-F238E27FC236}">
                <a16:creationId xmlns:a16="http://schemas.microsoft.com/office/drawing/2014/main" id="{CCB88E0C-1EBB-49A8-AEB2-7D94477928F4}"/>
              </a:ext>
            </a:extLst>
          </p:cNvPr>
          <p:cNvSpPr>
            <a:spLocks noGrp="1"/>
          </p:cNvSpPr>
          <p:nvPr/>
        </p:nvSpPr>
        <p:spPr>
          <a:xfrm>
            <a:off x="495300" y="5305425"/>
            <a:ext cx="11049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Both marker errors must satisfy the chosen distance threshold.</a:t>
            </a:r>
          </a:p>
          <a:p>
            <a:pPr marL="279400" indent="-165100" algn="l">
              <a:spcAft>
                <a:spcPts val="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reported success rate depends on the required accuracy.</a:t>
            </a:r>
          </a:p>
        </p:txBody>
      </p:sp>
    </p:spTree>
    <p:extLst>
      <p:ext uri="{BB962C8B-B14F-4D97-AF65-F5344CB8AC3E}">
        <p14:creationId xmlns:p14="http://schemas.microsoft.com/office/powerpoint/2010/main" val="1265635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AD4C263C-47C1-474E-A53D-7F9927370060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Motion Quality in the Experiments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BD14A7BC-56AC-4644-83CD-3935E0A82C6A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A9CA49F-998F-461E-83F5-D032AD263688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74E54-1A69-4FA2-9D4A-1EA617BF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5856" y="1504950"/>
            <a:ext cx="8825037" cy="4505325"/>
          </a:xfrm>
          <a:prstGeom prst="rect">
            <a:avLst/>
          </a:prstGeom>
        </p:spPr>
      </p:pic>
      <p:sp>
        <p:nvSpPr>
          <p:cNvPr id="5" name="interpretation">
            <a:extLst>
              <a:ext uri="{FF2B5EF4-FFF2-40B4-BE49-F238E27FC236}">
                <a16:creationId xmlns:a16="http://schemas.microsoft.com/office/drawing/2014/main" id="{EDC5044F-4384-4C8D-ACEF-66FB431B25EB}"/>
              </a:ext>
            </a:extLst>
          </p:cNvPr>
          <p:cNvSpPr>
            <a:spLocks noGrp="1"/>
          </p:cNvSpPr>
          <p:nvPr/>
        </p:nvSpPr>
        <p:spPr>
          <a:xfrm>
            <a:off x="523875" y="601027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Human reference = 1. Lower is better. Error bars show minima and maxima.</a:t>
            </a:r>
          </a:p>
        </p:txBody>
      </p:sp>
    </p:spTree>
    <p:extLst>
      <p:ext uri="{BB962C8B-B14F-4D97-AF65-F5344CB8AC3E}">
        <p14:creationId xmlns:p14="http://schemas.microsoft.com/office/powerpoint/2010/main" val="88653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C9D5BF08-EFF7-4D23-B4BB-1B86FF9F8A45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Demonstration Data Efficiency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FAA97248-1827-4258-B8CF-398CD7812862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7CD6688-4B2D-4605-82EC-DCE41AC42FB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F1961-60F6-47E4-9A3A-DAC2C6349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0" y="1524000"/>
            <a:ext cx="7429500" cy="4000500"/>
          </a:xfrm>
          <a:prstGeom prst="rect">
            <a:avLst/>
          </a:prstGeom>
        </p:spPr>
      </p:pic>
      <p:sp>
        <p:nvSpPr>
          <p:cNvPr id="5" name="interpretation">
            <a:extLst>
              <a:ext uri="{FF2B5EF4-FFF2-40B4-BE49-F238E27FC236}">
                <a16:creationId xmlns:a16="http://schemas.microsoft.com/office/drawing/2014/main" id="{85B26F15-01E1-4190-BDF9-E167733E1CBC}"/>
              </a:ext>
            </a:extLst>
          </p:cNvPr>
          <p:cNvSpPr>
            <a:spLocks noGrp="1"/>
          </p:cNvSpPr>
          <p:nvPr/>
        </p:nvSpPr>
        <p:spPr>
          <a:xfrm>
            <a:off x="523875" y="5619750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BTM example: about 90% success with 90 demos for MPD and 120 for DP-T.</a:t>
            </a:r>
          </a:p>
        </p:txBody>
      </p:sp>
    </p:spTree>
    <p:extLst>
      <p:ext uri="{BB962C8B-B14F-4D97-AF65-F5344CB8AC3E}">
        <p14:creationId xmlns:p14="http://schemas.microsoft.com/office/powerpoint/2010/main" val="503447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8002ACC3-A227-4297-B69D-C69E5828E171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Generated Instrument Trajectories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340DD345-33AE-4FEB-8D80-71FC7247EDEF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808B8C9-645B-4A71-959F-9796B543FD3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38E4E-0B47-48BD-8637-083E5800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03116" y="1362075"/>
            <a:ext cx="6585768" cy="4572000"/>
          </a:xfrm>
          <a:prstGeom prst="rect">
            <a:avLst/>
          </a:prstGeom>
        </p:spPr>
      </p:pic>
      <p:sp>
        <p:nvSpPr>
          <p:cNvPr id="5" name="interpretation">
            <a:extLst>
              <a:ext uri="{FF2B5EF4-FFF2-40B4-BE49-F238E27FC236}">
                <a16:creationId xmlns:a16="http://schemas.microsoft.com/office/drawing/2014/main" id="{1C2A5690-6E16-4598-B1C8-13660EFC7B50}"/>
              </a:ext>
            </a:extLst>
          </p:cNvPr>
          <p:cNvSpPr>
            <a:spLocks noGrp="1"/>
          </p:cNvSpPr>
          <p:nvPr/>
        </p:nvSpPr>
        <p:spPr>
          <a:xfrm>
            <a:off x="523875" y="601027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Path shape makes the motion-quality difference visible.</a:t>
            </a:r>
          </a:p>
        </p:txBody>
      </p:sp>
    </p:spTree>
    <p:extLst>
      <p:ext uri="{BB962C8B-B14F-4D97-AF65-F5344CB8AC3E}">
        <p14:creationId xmlns:p14="http://schemas.microsoft.com/office/powerpoint/2010/main" val="6495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788B5A99-8DA3-4FDA-AA13-74AFE3F027A7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Advantages of MPD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659F8378-7F1A-4FDF-8C59-60172AB21F82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3EAE96C-FA02-4878-8BCA-81E2820009F2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C98E1527-63CF-4C52-85F4-C027E0CCF447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Represents different valid demonstrated behaviors.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Sets the initial position and velocity of each motion segment.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Produces high-frequency references from a continuous decoder.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Improves motion metrics on the evaluated tasks.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Learns useful behavior with fewer demonstrations in the reported tests.</a:t>
            </a:r>
          </a:p>
        </p:txBody>
      </p:sp>
    </p:spTree>
    <p:extLst>
      <p:ext uri="{BB962C8B-B14F-4D97-AF65-F5344CB8AC3E}">
        <p14:creationId xmlns:p14="http://schemas.microsoft.com/office/powerpoint/2010/main" val="87783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8515FE48-EFB9-4D51-A30A-B09498A5FBAB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Limitations and Open Problems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BA66831D-BCEA-42E9-B298-DBEFCBEF5DCD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D6BB428-FC52-43D3-9495-6E347A781EA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B303D879-9CE1-449B-8EBA-AB02D053DD9C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Unfamiliar failure states can prevent recovery.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Smooth references do not supply a contact-force guarantee.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Sampling and representation choices add design and computation costs.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The hardware tests compare only MPD and DP-C.</a:t>
            </a:r>
          </a:p>
          <a:p>
            <a:pPr marL="279400" indent="-165100" algn="l">
              <a:spcAft>
                <a:spcPts val="1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Bench substitutes leave clinical generalization unresolved.</a:t>
            </a:r>
          </a:p>
        </p:txBody>
      </p:sp>
    </p:spTree>
    <p:extLst>
      <p:ext uri="{BB962C8B-B14F-4D97-AF65-F5344CB8AC3E}">
        <p14:creationId xmlns:p14="http://schemas.microsoft.com/office/powerpoint/2010/main" val="1548480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15AF9D09-D3A7-4275-B6D5-5F4883CA07D7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Discussion: The Controls Perspective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178B9BCD-F160-43F7-A306-4D85AD31366F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AA2102F-3539-4438-BD83-E537FDF1985D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CE025FBE-69CE-47F0-8A5A-2ACC8C29810D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supplies a learned reference for the physical system.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Tracking control still handles execution and disturbances.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Interaction sensing could help detect a bad plan or contact state.</a:t>
            </a:r>
          </a:p>
          <a:p>
            <a:pPr marL="279400" indent="-165100" algn="l">
              <a:spcAft>
                <a:spcPts val="27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Supervisory logic could manage replanning and human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012952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73B1E0A3-0F6A-40A6-88BF-78E03E25170F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Five Main Takeaways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0D86614E-F897-4D71-B793-B3E40C1762A9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7602DC8-D857-4C93-A919-91E1D76D1B57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717F390F-D1D2-40C8-B43E-0C4A4EB2DC38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Task success and motion quality answer different questions.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Diffusion captures variation. ProDMPs structure the trajectory.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Initial conditions help connect consecutive motion segments.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needs fewer demonstrations in the reported comparisons.</a:t>
            </a:r>
          </a:p>
          <a:p>
            <a:pPr marL="279400" indent="-165100" algn="l">
              <a:spcAft>
                <a:spcPts val="22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Recovery and clinical safety still require further work.</a:t>
            </a:r>
          </a:p>
        </p:txBody>
      </p:sp>
    </p:spTree>
    <p:extLst>
      <p:ext uri="{BB962C8B-B14F-4D97-AF65-F5344CB8AC3E}">
        <p14:creationId xmlns:p14="http://schemas.microsoft.com/office/powerpoint/2010/main" val="1795086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878B53FC-07A8-4F3E-AD61-358DBA22DF32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MPD’s Position in Our Course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9391F0FD-5E3A-4E8E-B0B5-FAA353DDC11E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5A8B5B1-1F5A-42D9-9E45-BBDDD5C875E4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20ECC5FA-FCEE-4830-BD8C-790CA4F0901B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Perception papers estimate tissue shape and motion.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Gesture and skill papers represent the surgeon’s behavior.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SUFIA-BC learns actions from demonstrations.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MPD structures the motion produced by a learned policy.</a:t>
            </a:r>
          </a:p>
          <a:p>
            <a:pPr marL="279400" indent="-165100" algn="l">
              <a:spcAft>
                <a:spcPts val="20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STAR connects task planning with supervised physical execution.</a:t>
            </a:r>
          </a:p>
        </p:txBody>
      </p:sp>
    </p:spTree>
    <p:extLst>
      <p:ext uri="{BB962C8B-B14F-4D97-AF65-F5344CB8AC3E}">
        <p14:creationId xmlns:p14="http://schemas.microsoft.com/office/powerpoint/2010/main" val="31513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A60998DB-DF35-4FD5-8AF7-8E9F853BFC97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5F13ABEC-AB14-4EE7-836C-B43B57A66A01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85541488-FFBB-46E4-AF10-652DEEC6F69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body-bullets">
            <a:extLst>
              <a:ext uri="{FF2B5EF4-FFF2-40B4-BE49-F238E27FC236}">
                <a16:creationId xmlns:a16="http://schemas.microsoft.com/office/drawing/2014/main" id="{6C5C8D37-6454-418D-8C10-C445783907F7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1049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marL="279400" indent="-165100" algn="l">
              <a:spcAft>
                <a:spcPts val="3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What would we measure before calling the manipulation safe?</a:t>
            </a:r>
          </a:p>
          <a:p>
            <a:pPr marL="279400" indent="-165100" algn="l">
              <a:spcAft>
                <a:spcPts val="3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Would corrective demonstrations improve the rope-recovery failure?</a:t>
            </a:r>
          </a:p>
          <a:p>
            <a:pPr marL="279400" indent="-165100" algn="l">
              <a:spcAft>
                <a:spcPts val="3800"/>
              </a:spcAft>
              <a:buChar char="•"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t>How should feedback change the motion when tissue moves unexpectedly?</a:t>
            </a:r>
          </a:p>
        </p:txBody>
      </p:sp>
    </p:spTree>
    <p:extLst>
      <p:ext uri="{BB962C8B-B14F-4D97-AF65-F5344CB8AC3E}">
        <p14:creationId xmlns:p14="http://schemas.microsoft.com/office/powerpoint/2010/main" val="509776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2892DCA2-8F7D-4335-8CFB-23152242D506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6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Main Paper and Supporting Resources</a:t>
            </a:r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3F2FC0D2-4314-44ED-83A8-5F34E6EF9889}"/>
              </a:ext>
            </a:extLst>
          </p:cNvPr>
          <p:cNvSpPr>
            <a:spLocks noGrp="1"/>
          </p:cNvSpPr>
          <p:nvPr/>
        </p:nvSpPr>
        <p:spPr>
          <a:xfrm>
            <a:off x="476250" y="6391275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Scheikl et al., RA-L 2024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E426E87-173D-40B1-8DD6-B41232850F02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main-paper-label">
            <a:extLst>
              <a:ext uri="{FF2B5EF4-FFF2-40B4-BE49-F238E27FC236}">
                <a16:creationId xmlns:a16="http://schemas.microsoft.com/office/drawing/2014/main" id="{71773234-90ED-4BA6-825A-BFA0962AAAF4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1095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1C1C1C"/>
                </a:solidFill>
                <a:latin typeface="Arial"/>
                <a:ea typeface="Arial"/>
                <a:cs typeface="Arial"/>
              </a:rPr>
              <a:t>Movement Primitive Diffusion</a:t>
            </a:r>
          </a:p>
        </p:txBody>
      </p:sp>
      <p:sp>
        <p:nvSpPr>
          <p:cNvPr id="5" name="main-paper-citation">
            <a:extLst>
              <a:ext uri="{FF2B5EF4-FFF2-40B4-BE49-F238E27FC236}">
                <a16:creationId xmlns:a16="http://schemas.microsoft.com/office/drawing/2014/main" id="{D0AA65BD-2D98-47F9-912D-E8598CCA905D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095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0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Scheikl, P. M., et al. “Movement Primitive Diffusion: Learning Gentle Robotic Manipulation of Deformable Objects.” IEEE Robotics and Automation Letters 9(6), 5338–5345, 2024.</a:t>
            </a:r>
          </a:p>
        </p:txBody>
      </p:sp>
      <p:sp>
        <p:nvSpPr>
          <p:cNvPr id="6" name="doi">
            <a:extLst>
              <a:ext uri="{FF2B5EF4-FFF2-40B4-BE49-F238E27FC236}">
                <a16:creationId xmlns:a16="http://schemas.microsoft.com/office/drawing/2014/main" id="{E1B70604-3FED-4EC2-9913-A6FE0D8F303F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https://doi.org/10.1109/LRA.2024.3382529</a:t>
            </a:r>
          </a:p>
        </p:txBody>
      </p:sp>
      <p:sp>
        <p:nvSpPr>
          <p:cNvPr id="7" name="project-label">
            <a:extLst>
              <a:ext uri="{FF2B5EF4-FFF2-40B4-BE49-F238E27FC236}">
                <a16:creationId xmlns:a16="http://schemas.microsoft.com/office/drawing/2014/main" id="{3609FF51-01E3-44D2-820B-20D615DC91C4}"/>
              </a:ext>
            </a:extLst>
          </p:cNvPr>
          <p:cNvSpPr>
            <a:spLocks noGrp="1"/>
          </p:cNvSpPr>
          <p:nvPr/>
        </p:nvSpPr>
        <p:spPr>
          <a:xfrm>
            <a:off x="495300" y="4514850"/>
            <a:ext cx="1095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00" b="1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1C1C1C"/>
                </a:solidFill>
                <a:latin typeface="Arial"/>
                <a:ea typeface="Arial"/>
                <a:cs typeface="Arial"/>
              </a:rPr>
              <a:t>Project Page, Code, Data, and Demonstration Video</a:t>
            </a:r>
          </a:p>
        </p:txBody>
      </p:sp>
      <p:sp>
        <p:nvSpPr>
          <p:cNvPr id="8" name="project-link">
            <a:extLst>
              <a:ext uri="{FF2B5EF4-FFF2-40B4-BE49-F238E27FC236}">
                <a16:creationId xmlns:a16="http://schemas.microsoft.com/office/drawing/2014/main" id="{D19EC563-37B7-47F8-B419-D8E1A796C334}"/>
              </a:ext>
            </a:extLst>
          </p:cNvPr>
          <p:cNvSpPr>
            <a:spLocks noGrp="1"/>
          </p:cNvSpPr>
          <p:nvPr/>
        </p:nvSpPr>
        <p:spPr>
          <a:xfrm>
            <a:off x="495300" y="5105400"/>
            <a:ext cx="1095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C1C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C1C"/>
                </a:solidFill>
                <a:latin typeface="Arial"/>
                <a:ea typeface="Arial"/>
                <a:cs typeface="Arial"/>
              </a:rPr>
              <a:t>https://scheiklp.github.io/movement-primitive-diffusion/</a:t>
            </a:r>
          </a:p>
        </p:txBody>
      </p:sp>
    </p:spTree>
    <p:extLst>
      <p:ext uri="{BB962C8B-B14F-4D97-AF65-F5344CB8AC3E}">
        <p14:creationId xmlns:p14="http://schemas.microsoft.com/office/powerpoint/2010/main" val="207847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U Brand">
      <a:dk1>
        <a:srgbClr val="1C1C1C"/>
      </a:dk1>
      <a:lt1>
        <a:srgbClr val="F5F3EF"/>
      </a:lt1>
      <a:dk2>
        <a:srgbClr val="777777"/>
      </a:dk2>
      <a:lt2>
        <a:srgbClr val="E3E3E3"/>
      </a:lt2>
      <a:accent1>
        <a:srgbClr val="B3C9CD"/>
      </a:accent1>
      <a:accent2>
        <a:srgbClr val="ECB748"/>
      </a:accent2>
      <a:accent3>
        <a:srgbClr val="E0D5C0"/>
      </a:accent3>
      <a:accent4>
        <a:srgbClr val="F5F3EF"/>
      </a:accent4>
      <a:accent5>
        <a:srgbClr val="E0D5C0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U Bran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U Brand">
      <a:dk1>
        <a:srgbClr val="1C1C1C"/>
      </a:dk1>
      <a:lt1>
        <a:srgbClr val="F5F3EF"/>
      </a:lt1>
      <a:dk2>
        <a:srgbClr val="777777"/>
      </a:dk2>
      <a:lt2>
        <a:srgbClr val="E3E3E3"/>
      </a:lt2>
      <a:accent1>
        <a:srgbClr val="B3C9CD"/>
      </a:accent1>
      <a:accent2>
        <a:srgbClr val="ECB748"/>
      </a:accent2>
      <a:accent3>
        <a:srgbClr val="E0D5C0"/>
      </a:accent3>
      <a:accent4>
        <a:srgbClr val="F5F3EF"/>
      </a:accent4>
      <a:accent5>
        <a:srgbClr val="E0D5C0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U Bran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4828</Words>
  <Application>Microsoft Office PowerPoint</Application>
  <DocSecurity>0</DocSecurity>
  <PresentationFormat>Widescreen</PresentationFormat>
  <Paragraphs>584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Times</vt:lpstr>
      <vt:lpstr>Times New Roman</vt:lpstr>
      <vt:lpstr>Office Theme</vt:lpstr>
      <vt:lpstr>Movement Primitive Diffusion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Blaine Swieder</cp:lastModifiedBy>
  <cp:revision>1</cp:revision>
  <dcterms:created xsi:type="dcterms:W3CDTF">2026-10-29T03:53:42Z</dcterms:created>
  <dcterms:modified xsi:type="dcterms:W3CDTF">2026-10-29T17:42:22Z</dcterms:modified>
</cp:coreProperties>
</file>